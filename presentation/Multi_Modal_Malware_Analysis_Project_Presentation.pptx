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22"/>
    <p:sldId id="270" r:id="rId23"/>
    <p:sldId id="271" r:id="rId24"/>
    <p:sldId id="272" r:id="rId25"/>
    <p:sldId id="273" r:id="rId26"/>
  </p:sldIdLst>
  <p:sldSz cx="18288000" cy="10287000"/>
  <p:notesSz cx="6858000" cy="9144000"/>
  <p:embeddedFontLst>
    <p:embeddedFont>
      <p:font typeface="Open Sauce" charset="1" panose="00000500000000000000"/>
      <p:regular r:id="rId19"/>
    </p:embeddedFont>
    <p:embeddedFont>
      <p:font typeface="Open Sauce Bold" charset="1" panose="00000800000000000000"/>
      <p:regular r:id="rId20"/>
    </p:embeddedFont>
    <p:embeddedFont>
      <p:font typeface="Open Sauce Italics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777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ACADEMIC RESEARCH &amp; REPRODUCIBLE REFERENCE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777240"/>
            <a:ext cx="8119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GITHUB: KOHLIRUPESH19/MULTI-MODEL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011680"/>
            <a:ext cx="1623974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331B0D"/>
                </a:solidFill>
                <a:latin typeface="Open Sauce"/>
              </a:defRPr>
            </a:pPr>
            <a:r>
              <a:t>MULTI-MODAL BINARY MALWARE ANALYSIS</a:t>
            </a:r>
            <a:br/>
            <a:r>
              <a:t>RESEARCH PLATFORM</a:t>
            </a:r>
          </a:p>
          <a:p>
            <a:pPr>
              <a:defRPr sz="2000">
                <a:solidFill>
                  <a:srgbClr val="735F50"/>
                </a:solidFill>
                <a:latin typeface="Open Sauce"/>
              </a:defRPr>
            </a:pPr>
            <a:r>
              <a:t>Opcode Transformers + CFG-GIN + System Call BiLSTM with Contrastive Alignment and Attention-Weighted Late 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4572000"/>
            <a:ext cx="516636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C7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B4C5E"/>
                </a:solidFill>
                <a:latin typeface="Open Sauce"/>
              </a:defRPr>
            </a:pPr>
            <a:r>
              <a:t>MODALITY 1 • LEXICAL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Opcode Sequence Transformer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Captures local instruction semantics, register dependencies, and compiler patterns across linear disassembly up to 2,048 tokens.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6248" y="4572000"/>
            <a:ext cx="516636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C7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67365"/>
                </a:solidFill>
                <a:latin typeface="Open Sauce"/>
              </a:defRPr>
            </a:pPr>
            <a:r>
              <a:t>MODALITY 2 • TOPOLOGICAL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Control Flow Graph GIN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Encodes basic-block control flow graphs using 3-layer Graph Isomorphism Networks invariant to instruction reordering.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88368" y="4572000"/>
            <a:ext cx="516636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C7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A26A42"/>
                </a:solidFill>
                <a:latin typeface="Open Sauce"/>
              </a:defRPr>
            </a:pPr>
            <a:r>
              <a:t>MODALITY 3 • DYNAMIC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System Call Trace BiLSTM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Models time-ordered high-privilege kernel interactions via Bidirectional LSTM to expose payload behavior despite packing.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7955279"/>
            <a:ext cx="16239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REFERENCE ARCHITECTURE &amp; EMPIRICAL BENCHMARKS</a:t>
            </a:r>
          </a:p>
          <a:p>
            <a:pPr>
              <a:defRPr sz="1600">
                <a:solidFill>
                  <a:srgbClr val="331B0D"/>
                </a:solidFill>
                <a:latin typeface="Open Sauce"/>
              </a:defRPr>
            </a:pPr>
            <a:r>
              <a:t>PyTorch 2.2+  •  PyG 2.5+  •  LIEF &amp; Capstone Engine  •  FAISS Vector Index  •  Streamlit 1.35+  •  MIT License</a:t>
            </a:r>
          </a:p>
          <a:p>
            <a:pPr>
              <a:defRPr sz="1400">
                <a:solidFill>
                  <a:srgbClr val="735F50"/>
                </a:solidFill>
                <a:latin typeface="Open Sauce"/>
              </a:defRPr>
            </a:pPr>
            <a:r>
              <a:t>Repository: https://github.com/kohlirupesh19/Multi-Model.git  |  Verified Scientific Evaluation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91872" y="9555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C7753"/>
                </a:solidFill>
                <a:latin typeface="Open Sauce"/>
              </a:defRPr>
            </a:pPr>
            <a: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777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01 /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777240"/>
            <a:ext cx="8119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MULTI-MODAL MALWARE ANALYSIS RESEARCH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234440"/>
            <a:ext cx="16239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1B0D"/>
                </a:solidFill>
                <a:latin typeface="Open Sauce"/>
              </a:defRPr>
            </a:pPr>
            <a:r>
              <a:t>Multi-Modal Malware Analysis at a Glance</a:t>
            </a:r>
          </a:p>
          <a:p>
            <a:pPr>
              <a:defRPr sz="1800">
                <a:solidFill>
                  <a:srgbClr val="735F50"/>
                </a:solidFill>
                <a:latin typeface="Open Sauce"/>
              </a:defRPr>
            </a:pPr>
            <a:r>
              <a:t>Overcoming single-point failure in binary analysis through orthogonal static and dynamic representations.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2331720"/>
            <a:ext cx="5166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A26A42"/>
                </a:solidFill>
                <a:latin typeface="Open Sauce"/>
              </a:defRPr>
            </a:pPr>
            <a:r>
              <a:t>THE CORE PROBLEM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Unimodal Blindness &amp; Evasion</a:t>
            </a:r>
          </a:p>
          <a:p>
            <a:pPr>
              <a:spcAft>
                <a:spcPts val="600"/>
              </a:spcAft>
              <a:defRPr sz="1550">
                <a:solidFill>
                  <a:srgbClr val="331B0D"/>
                </a:solidFill>
                <a:latin typeface="Open Sauce"/>
              </a:defRPr>
            </a:pPr>
            <a:r>
              <a:t>• Modern malware variants routinely defeat unimodal security pipelines through targeted obfuscation.</a:t>
            </a:r>
          </a:p>
          <a:p>
            <a:pPr>
              <a:spcAft>
                <a:spcPts val="600"/>
              </a:spcAft>
              <a:defRPr sz="1550">
                <a:solidFill>
                  <a:srgbClr val="331B0D"/>
                </a:solidFill>
                <a:latin typeface="Open Sauce"/>
              </a:defRPr>
            </a:pPr>
            <a:r>
              <a:t>• Static opcode analysis fails under UPX packing, dead-code insertion, and register renaming.</a:t>
            </a:r>
          </a:p>
          <a:p>
            <a:pPr>
              <a:spcAft>
                <a:spcPts val="600"/>
              </a:spcAft>
              <a:defRPr sz="1550">
                <a:solidFill>
                  <a:srgbClr val="331B0D"/>
                </a:solidFill>
                <a:latin typeface="Open Sauce"/>
              </a:defRPr>
            </a:pPr>
            <a:r>
              <a:t>• CFG analysis breaks under OLLVM control-flow flattening and bogus jump predicates.</a:t>
            </a:r>
          </a:p>
          <a:p>
            <a:pPr>
              <a:spcAft>
                <a:spcPts val="600"/>
              </a:spcAft>
              <a:defRPr sz="1550">
                <a:solidFill>
                  <a:srgbClr val="331B0D"/>
                </a:solidFill>
                <a:latin typeface="Open Sauce"/>
              </a:defRPr>
            </a:pPr>
            <a:r>
              <a:t>• Dynamic sandboxing incurs severe multi-minute execution latency and fails against sandbox-stalling logic.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6248" y="2331720"/>
            <a:ext cx="5166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B4C5E"/>
                </a:solidFill>
                <a:latin typeface="Open Sauce"/>
              </a:defRPr>
            </a:pPr>
            <a:r>
              <a:t>THE PROPOSED SOLUTION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Orthogonal Tri-Modal Synergy</a:t>
            </a:r>
          </a:p>
          <a:p>
            <a:pPr>
              <a:spcAft>
                <a:spcPts val="600"/>
              </a:spcAft>
              <a:defRPr sz="1550">
                <a:solidFill>
                  <a:srgbClr val="331B0D"/>
                </a:solidFill>
                <a:latin typeface="Open Sauce"/>
              </a:defRPr>
            </a:pPr>
            <a:r>
              <a:t>• End-to-end framework ingesting three independent, complementary analytical streams from PE/ELF binaries.</a:t>
            </a:r>
          </a:p>
          <a:p>
            <a:pPr>
              <a:spcAft>
                <a:spcPts val="600"/>
              </a:spcAft>
              <a:defRPr sz="1550">
                <a:solidFill>
                  <a:srgbClr val="331B0D"/>
                </a:solidFill>
                <a:latin typeface="Open Sauce"/>
              </a:defRPr>
            </a:pPr>
            <a:r>
              <a:t>• Decouples feature extraction into specialized deep encoders: NLP Transformer, CFG-GIN, and Syscall BiLSTM.</a:t>
            </a:r>
          </a:p>
          <a:p>
            <a:pPr>
              <a:spcAft>
                <a:spcPts val="600"/>
              </a:spcAft>
              <a:defRPr sz="1550">
                <a:solidFill>
                  <a:srgbClr val="331B0D"/>
                </a:solidFill>
                <a:latin typeface="Open Sauce"/>
              </a:defRPr>
            </a:pPr>
            <a:r>
              <a:t>• Contrastively aligns disparate embedding manifolds into a shared 128-D hypersphere via InfoNCE and GRAM.</a:t>
            </a:r>
          </a:p>
          <a:p>
            <a:pPr>
              <a:spcAft>
                <a:spcPts val="600"/>
              </a:spcAft>
              <a:defRPr sz="1550">
                <a:solidFill>
                  <a:srgbClr val="331B0D"/>
                </a:solidFill>
                <a:latin typeface="Open Sauce"/>
              </a:defRPr>
            </a:pPr>
            <a:r>
              <a:t>• Dynamic attention gating handles corrupted or missing feature channels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88368" y="2331720"/>
            <a:ext cx="5166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67365"/>
                </a:solidFill>
                <a:latin typeface="Open Sauce"/>
              </a:defRPr>
            </a:pPr>
            <a:r>
              <a:t>CORE CAPABILITIES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Classification &amp; Threat Hunting</a:t>
            </a:r>
          </a:p>
          <a:p>
            <a:pPr>
              <a:spcAft>
                <a:spcPts val="600"/>
              </a:spcAft>
              <a:defRPr sz="1550">
                <a:solidFill>
                  <a:srgbClr val="331B0D"/>
                </a:solidFill>
                <a:latin typeface="Open Sauce"/>
              </a:defRPr>
            </a:pPr>
            <a:r>
              <a:t>• Dual-Branch Output: Calibrated malware classification + sub-millisecond FAISS vector similarity search.</a:t>
            </a:r>
          </a:p>
          <a:p>
            <a:pPr>
              <a:spcAft>
                <a:spcPts val="600"/>
              </a:spcAft>
              <a:defRPr sz="1550">
                <a:solidFill>
                  <a:srgbClr val="331B0D"/>
                </a:solidFill>
                <a:latin typeface="Open Sauce"/>
              </a:defRPr>
            </a:pPr>
            <a:r>
              <a:t>• Two-Stage Triage: Fast static screening in 17.5 ms (57 binaries/sec) resolves &gt;90% of samples without a VM.</a:t>
            </a:r>
          </a:p>
          <a:p>
            <a:pPr>
              <a:spcAft>
                <a:spcPts val="600"/>
              </a:spcAft>
              <a:defRPr sz="1550">
                <a:solidFill>
                  <a:srgbClr val="331B0D"/>
                </a:solidFill>
                <a:latin typeface="Open Sauce"/>
              </a:defRPr>
            </a:pPr>
            <a:r>
              <a:t>• Laptop-First Optimization: CPU-first inference, low memory profile (&lt;550 MB RAM), and robust SQLite caching.</a:t>
            </a:r>
          </a:p>
          <a:p>
            <a:pPr>
              <a:spcAft>
                <a:spcPts val="600"/>
              </a:spcAft>
              <a:defRPr sz="1550">
                <a:solidFill>
                  <a:srgbClr val="331B0D"/>
                </a:solidFill>
                <a:latin typeface="Open Sauce"/>
              </a:defRPr>
            </a:pPr>
            <a:r>
              <a:t>• Zero Fabrication Rigor: All metrics verified strictly from stored experimental runs.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7726679"/>
            <a:ext cx="3840480" cy="1463040"/>
          </a:xfrm>
          <a:prstGeom prst="roundRect">
            <a:avLst/>
          </a:prstGeom>
          <a:solidFill>
            <a:srgbClr val="F5EFEB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800" b="1">
                <a:solidFill>
                  <a:srgbClr val="331B0D"/>
                </a:solidFill>
                <a:latin typeface="Open Sauce"/>
              </a:defRPr>
            </a:pPr>
            <a:r>
              <a:t>17.5 ms</a:t>
            </a:r>
          </a:p>
          <a:p>
            <a:pPr algn="ctr">
              <a:defRPr sz="1100">
                <a:solidFill>
                  <a:srgbClr val="8C7753"/>
                </a:solidFill>
                <a:latin typeface="Open Sauce"/>
              </a:defRPr>
            </a:pPr>
            <a:r>
              <a:t>FAST STATIC TRIAGE LATENCY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57215" y="7726679"/>
            <a:ext cx="3840480" cy="1463040"/>
          </a:xfrm>
          <a:prstGeom prst="roundRect">
            <a:avLst/>
          </a:prstGeom>
          <a:solidFill>
            <a:srgbClr val="F5EFEB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800" b="1">
                <a:solidFill>
                  <a:srgbClr val="331B0D"/>
                </a:solidFill>
                <a:latin typeface="Open Sauce"/>
              </a:defRPr>
            </a:pPr>
            <a:r>
              <a:t>d = 128</a:t>
            </a:r>
          </a:p>
          <a:p>
            <a:pPr algn="ctr">
              <a:defRPr sz="1100">
                <a:solidFill>
                  <a:srgbClr val="8C7753"/>
                </a:solidFill>
                <a:latin typeface="Open Sauce"/>
              </a:defRPr>
            </a:pPr>
            <a:r>
              <a:t>HYPERSPHERICAL LATENT 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90302" y="7726679"/>
            <a:ext cx="3840480" cy="1463040"/>
          </a:xfrm>
          <a:prstGeom prst="roundRect">
            <a:avLst/>
          </a:prstGeom>
          <a:solidFill>
            <a:srgbClr val="F5EFEB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800" b="1">
                <a:solidFill>
                  <a:srgbClr val="331B0D"/>
                </a:solidFill>
                <a:latin typeface="Open Sauce"/>
              </a:defRPr>
            </a:pPr>
            <a:r>
              <a:t>100,000</a:t>
            </a:r>
          </a:p>
          <a:p>
            <a:pPr algn="ctr">
              <a:defRPr sz="1100">
                <a:solidFill>
                  <a:srgbClr val="8C7753"/>
                </a:solidFill>
                <a:latin typeface="Open Sauce"/>
              </a:defRPr>
            </a:pPr>
            <a:r>
              <a:t>SAMPLE SCALE BENCHMARK CORPUS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423389" y="7726679"/>
            <a:ext cx="3840480" cy="1463040"/>
          </a:xfrm>
          <a:prstGeom prst="roundRect">
            <a:avLst/>
          </a:prstGeom>
          <a:solidFill>
            <a:srgbClr val="F5EFEB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800" b="1">
                <a:solidFill>
                  <a:srgbClr val="331B0D"/>
                </a:solidFill>
                <a:latin typeface="Open Sauce"/>
              </a:defRPr>
            </a:pPr>
            <a:r>
              <a:t>0.00%</a:t>
            </a:r>
          </a:p>
          <a:p>
            <a:pPr algn="ctr">
              <a:defRPr sz="1100">
                <a:solidFill>
                  <a:srgbClr val="8C7753"/>
                </a:solidFill>
                <a:latin typeface="Open Sauce"/>
              </a:defRPr>
            </a:pPr>
            <a:r>
              <a:t>FALSE NEGATIVE RATE ON TEST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91872" y="9555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C7753"/>
                </a:solidFill>
                <a:latin typeface="Open Sauce"/>
              </a:defRPr>
            </a:pPr>
            <a: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777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02 /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777240"/>
            <a:ext cx="8119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MULTI-MODAL MALWARE ANALYSIS RESEARCH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234440"/>
            <a:ext cx="16239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1B0D"/>
                </a:solidFill>
                <a:latin typeface="Open Sauce"/>
              </a:defRPr>
            </a:pPr>
            <a:r>
              <a:t>Evasion Vectors Against Unimodal Malware Detection</a:t>
            </a:r>
          </a:p>
          <a:p>
            <a:pPr>
              <a:defRPr sz="1800">
                <a:solidFill>
                  <a:srgbClr val="735F50"/>
                </a:solidFill>
                <a:latin typeface="Open Sauce"/>
              </a:defRPr>
            </a:pPr>
            <a:r>
              <a:t>Why single-modality pipelines inevitably break under sophisticated adversary techniques.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2331720"/>
            <a:ext cx="51663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A26A42"/>
                </a:solidFill>
                <a:latin typeface="Open Sauce"/>
              </a:defRPr>
            </a:pPr>
            <a:r>
              <a:t>VECTOR 1 • STATIC LEXICAL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Opcode Stream Blindness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UPX &amp; Custom Packing: Compresses/encrypts executable sections; disassembler observes only trivial unpacker stubs.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Dead-Code Insertion: Injecting benign instruction sequences (e.g., NOP sleds, unused math) distorts n-gram distributions.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Instruction Substitution: Equivalent assembly mnemonics (e.g. 'xor eax, eax' vs 'sub eax, eax') evade naive token matchers.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6248" y="2331720"/>
            <a:ext cx="51663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B4C5E"/>
                </a:solidFill>
                <a:latin typeface="Open Sauce"/>
              </a:defRPr>
            </a:pPr>
            <a:r>
              <a:t>VECTOR 2 • STATIC TOPOLOGICAL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CFG Graph Degradation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Control-Flow Flattening (OLLVM): Replaces genuine basic block hierarchies with centralized switch-dispatch structures.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Opaque Predicates: Injects conditional jumps evaluating to constant booleans at runtime, generating bogus execution paths.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Graph Disruption: Destroys topological graph invariants, reducing GNN structural discriminability.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88368" y="2331720"/>
            <a:ext cx="51663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67365"/>
                </a:solidFill>
                <a:latin typeface="Open Sauce"/>
              </a:defRPr>
            </a:pPr>
            <a:r>
              <a:t>VECTOR 3 • DYNAMIC BEHAVIORAL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Sandbox Evasion &amp; Latency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Sandbox Stalling: Executing lengthy sleep loops ('Sleep(300000)') or complex floating-point calculations to exceed timeout limits.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Anti-VM Fingerprinting: Checking hardware artifacts (CPUID, hypervisor registries, mouse velocity) and aborting malicious payloads.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High Computational Overhead: Multi-minute VM detonation prevents line-rate enterprise gateway inspection.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6720840"/>
            <a:ext cx="16239744" cy="2468880"/>
          </a:xfrm>
          <a:prstGeom prst="roundRect">
            <a:avLst/>
          </a:prstGeom>
          <a:solidFill>
            <a:srgbClr val="F5EFEB"/>
          </a:solidFill>
          <a:ln w="15240">
            <a:solidFill>
              <a:srgbClr val="8C7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365760" rIns="365760"/>
          <a:lstStyle/>
          <a:p>
            <a:pPr algn="ctr">
              <a:spcAft>
                <a:spcPts val="600"/>
              </a:spcAft>
              <a:defRPr sz="1400" b="1">
                <a:solidFill>
                  <a:srgbClr val="8C7753"/>
                </a:solidFill>
                <a:latin typeface="Open Sauce"/>
              </a:defRPr>
            </a:pPr>
            <a:r>
              <a:t>THE MULTI-MODAL IMPERATIVE: ORTHOGONAL RESILIENCE</a:t>
            </a:r>
          </a:p>
          <a:p>
            <a:pPr>
              <a:spcAft>
                <a:spcPts val="800"/>
              </a:spcAft>
              <a:defRPr sz="1600">
                <a:solidFill>
                  <a:srgbClr val="331B0D"/>
                </a:solidFill>
                <a:latin typeface="Open Sauce"/>
              </a:defRPr>
            </a:pPr>
            <a:r>
              <a:t>Adversaries routinely neutralize individual features, but cannot simultaneously evade lexical, topological, and dynamic behavioral analysis without fundamentally altering program semantics. A multi-modal architecture with dynamic gating automatically shifts representation weight to whichever modality remains uncorrupted.</a:t>
            </a:r>
          </a:p>
          <a:p>
            <a:pPr>
              <a:defRPr sz="1500">
                <a:solidFill>
                  <a:srgbClr val="2B4C5E"/>
                </a:solidFill>
                <a:latin typeface="Open Sauce"/>
              </a:defRPr>
            </a:pPr>
            <a:r>
              <a:t>Traditional Paradigm: Binary ➔ Single Modality ➔ Classifier ➔ Brittle Decision</a:t>
            </a:r>
            <a:br/>
            <a:r>
              <a:t>Proposed Paradigm: Binary ➔ [Opcodes || CFG || Syscalls] ➔ Hyperspherical Alignment ➔ Adaptive Late Fusion ➔ Robust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91872" y="9555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C7753"/>
                </a:solidFill>
                <a:latin typeface="Open Sauce"/>
              </a:defRPr>
            </a:pPr>
            <a: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777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03 /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777240"/>
            <a:ext cx="8119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MULTI-MODAL MALWARE ANALYSIS RESEARCH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234440"/>
            <a:ext cx="16239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1B0D"/>
                </a:solidFill>
                <a:latin typeface="Open Sauce"/>
              </a:defRPr>
            </a:pPr>
            <a:r>
              <a:t>Unimodal vs. Proposed Multi-Modal Paradigm</a:t>
            </a:r>
          </a:p>
          <a:p>
            <a:pPr>
              <a:defRPr sz="1800">
                <a:solidFill>
                  <a:srgbClr val="735F50"/>
                </a:solidFill>
                <a:latin typeface="Open Sauce"/>
              </a:defRPr>
            </a:pPr>
            <a:r>
              <a:t>Comprehensive architectural comparison of malware representation and triage mechanisms.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24128" y="2331720"/>
          <a:ext cx="16239744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6473952"/>
                <a:gridCol w="6473952"/>
              </a:tblGrid>
              <a:tr h="953588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Open Sauce"/>
                        </a:defRPr>
                      </a:pPr>
                      <a:r>
                        <a:t>ANALYSIS DIMENSION</a:t>
                      </a:r>
                    </a:p>
                  </a:txBody>
                  <a:tcPr anchor="ctr">
                    <a:solidFill>
                      <a:srgbClr val="331B0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Open Sauce"/>
                        </a:defRPr>
                      </a:pPr>
                      <a:r>
                        <a:t>EXISTING UNIMODAL SYSTEMS</a:t>
                      </a:r>
                    </a:p>
                  </a:txBody>
                  <a:tcPr anchor="ctr">
                    <a:solidFill>
                      <a:srgbClr val="331B0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Open Sauce"/>
                        </a:defRPr>
                      </a:pPr>
                      <a:r>
                        <a:t>PROPOSED MULTI-MODAL PLATFORM</a:t>
                      </a:r>
                    </a:p>
                  </a:txBody>
                  <a:tcPr anchor="ctr">
                    <a:solidFill>
                      <a:srgbClr val="331B0D"/>
                    </a:solidFill>
                  </a:tcPr>
                </a:tc>
              </a:tr>
              <a:tr h="95358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331B0D"/>
                          </a:solidFill>
                          <a:latin typeface="Open Sauce"/>
                        </a:defRPr>
                      </a:pPr>
                      <a:r>
                        <a:t>Representation Depth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331B0D"/>
                          </a:solidFill>
                          <a:latin typeface="Open Sauce"/>
                        </a:defRPr>
                      </a:pPr>
                      <a:r>
                        <a:t>Single view (either opcodes, CFG, or sandbox trace); ignores orthogonal static/dynamic semantic evidence.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B4C5E"/>
                          </a:solidFill>
                          <a:latin typeface="Open Sauce"/>
                        </a:defRPr>
                      </a:pPr>
                      <a:r>
                        <a:t>Tri-modal orthogonal synergy capturing lexical instruction syntax, graph topology, and dynamic API behavior.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358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331B0D"/>
                          </a:solidFill>
                          <a:latin typeface="Open Sauce"/>
                        </a:defRPr>
                      </a:pPr>
                      <a:r>
                        <a:t>Obfuscation Resilience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331B0D"/>
                          </a:solidFill>
                          <a:latin typeface="Open Sauce"/>
                        </a:defRPr>
                      </a:pPr>
                      <a:r>
                        <a:t>Catastrophic failure when target feature is obfuscated (e.g. UPX breaks opcodes, OLLVM flattens CFG).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B4C5E"/>
                          </a:solidFill>
                          <a:latin typeface="Open Sauce"/>
                        </a:defRPr>
                      </a:pPr>
                      <a:r>
                        <a:t>Dynamic attention gating reallocates weight to uncorrupted modalities (e.g. syscall weight rises to 34.3% under UPX).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95358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331B0D"/>
                          </a:solidFill>
                          <a:latin typeface="Open Sauce"/>
                        </a:defRPr>
                      </a:pPr>
                      <a:r>
                        <a:t>Missing Modality Handling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331B0D"/>
                          </a:solidFill>
                          <a:latin typeface="Open Sauce"/>
                        </a:defRPr>
                      </a:pPr>
                      <a:r>
                        <a:t>Pipeline crashes or rejects binary if dynamic execution fails or dynamic trace is uncomputable.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B4C5E"/>
                          </a:solidFill>
                          <a:latin typeface="Open Sauce"/>
                        </a:defRPr>
                      </a:pPr>
                      <a:r>
                        <a:t>Softmax availability masking (with -10⁹ penalty) enables graceful fallback to available static features.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358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331B0D"/>
                          </a:solidFill>
                          <a:latin typeface="Open Sauce"/>
                        </a:defRPr>
                      </a:pPr>
                      <a:r>
                        <a:t>Latent Space Alignment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331B0D"/>
                          </a:solidFill>
                          <a:latin typeface="Open Sauce"/>
                        </a:defRPr>
                      </a:pPr>
                      <a:r>
                        <a:t>Disparate, unaligned feature vectors without geometric coherence or shared semantics.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B4C5E"/>
                          </a:solidFill>
                          <a:latin typeface="Open Sauce"/>
                        </a:defRPr>
                      </a:pPr>
                      <a:r>
                        <a:t>Shared 128-D unit hypersphere (𝕊¹²⁷) enforced via Pairwise InfoNCE and Volumetric GRAM determinant loss.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95358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331B0D"/>
                          </a:solidFill>
                          <a:latin typeface="Open Sauce"/>
                        </a:defRPr>
                      </a:pPr>
                      <a:r>
                        <a:t>Downstream Capabilities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331B0D"/>
                          </a:solidFill>
                          <a:latin typeface="Open Sauce"/>
                        </a:defRPr>
                      </a:pPr>
                      <a:r>
                        <a:t>Binary classification only (Malware vs Benign); lacks attribution or similarity exploration.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B4C5E"/>
                          </a:solidFill>
                          <a:latin typeface="Open Sauce"/>
                        </a:defRPr>
                      </a:pPr>
                      <a:r>
                        <a:t>Dual-branch downstream: Calibrated malware classification + sub-millisecond FAISS Top-K cosine similarity search.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3592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331B0D"/>
                          </a:solidFill>
                          <a:latin typeface="Open Sauce"/>
                        </a:defRPr>
                      </a:pPr>
                      <a:r>
                        <a:t>Deployment &amp; Compute Cost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331B0D"/>
                          </a:solidFill>
                          <a:latin typeface="Open Sauce"/>
                        </a:defRPr>
                      </a:pPr>
                      <a:r>
                        <a:t>Requires resource-heavy VM sandbox detonation for every binary (multi-minute queue delays).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B4C5E"/>
                          </a:solidFill>
                          <a:latin typeface="Open Sauce"/>
                        </a:defRPr>
                      </a:pPr>
                      <a:r>
                        <a:t>Two-stage triage: Fast static screening in 17.5 ms (57 binaries/sec) resolves &gt;90% of samples before sandbox.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691872" y="9555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C7753"/>
                </a:solidFill>
                <a:latin typeface="Open Sauce"/>
              </a:defRPr>
            </a:pPr>
            <a: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777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04 /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777240"/>
            <a:ext cx="8119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MULTI-MODAL MALWARE ANALYSIS RESEARCH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234440"/>
            <a:ext cx="16239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1B0D"/>
                </a:solidFill>
                <a:latin typeface="Open Sauce"/>
              </a:defRPr>
            </a:pPr>
            <a:r>
              <a:t>Six Core Research &amp; Engineering Objectives</a:t>
            </a:r>
          </a:p>
          <a:p>
            <a:pPr>
              <a:defRPr sz="1800">
                <a:solidFill>
                  <a:srgbClr val="735F50"/>
                </a:solidFill>
                <a:latin typeface="Open Sauce"/>
              </a:defRPr>
            </a:pPr>
            <a:r>
              <a:t>Targeted design objectives governing platform architecture, mathematical alignment, and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2377440"/>
            <a:ext cx="51663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2200" b="1">
                <a:solidFill>
                  <a:srgbClr val="2B4C5E"/>
                </a:solidFill>
                <a:latin typeface="Open Sauce"/>
              </a:defRPr>
            </a:pPr>
            <a:r>
              <a:t>01</a:t>
            </a:r>
          </a:p>
          <a:p>
            <a:pPr>
              <a:spcAft>
                <a:spcPts val="800"/>
              </a:spcAft>
              <a:defRPr sz="1800" b="1">
                <a:solidFill>
                  <a:srgbClr val="331B0D"/>
                </a:solidFill>
                <a:latin typeface="Open Sauce"/>
              </a:defRPr>
            </a:pPr>
            <a:r>
              <a:t>Tri-Modal Safe Extraction</a:t>
            </a:r>
          </a:p>
          <a:p>
            <a:pPr>
              <a:defRPr sz="1450">
                <a:solidFill>
                  <a:srgbClr val="735F50"/>
                </a:solidFill>
                <a:latin typeface="Open Sauce"/>
              </a:defRPr>
            </a:pPr>
            <a:r>
              <a:t>Safely ingest untrusted PE/ELF binaries in quarantined staging; extract disassembled opcode sequences, basic-block CFG graphs, and runtime system call traces.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6248" y="2377440"/>
            <a:ext cx="51663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2200" b="1">
                <a:solidFill>
                  <a:srgbClr val="267365"/>
                </a:solidFill>
                <a:latin typeface="Open Sauce"/>
              </a:defRPr>
            </a:pPr>
            <a:r>
              <a:t>02</a:t>
            </a:r>
          </a:p>
          <a:p>
            <a:pPr>
              <a:spcAft>
                <a:spcPts val="800"/>
              </a:spcAft>
              <a:defRPr sz="1800" b="1">
                <a:solidFill>
                  <a:srgbClr val="331B0D"/>
                </a:solidFill>
                <a:latin typeface="Open Sauce"/>
              </a:defRPr>
            </a:pPr>
            <a:r>
              <a:t>Specialized Neural Encoders</a:t>
            </a:r>
          </a:p>
          <a:p>
            <a:pPr>
              <a:defRPr sz="1450">
                <a:solidFill>
                  <a:srgbClr val="735F50"/>
                </a:solidFill>
                <a:latin typeface="Open Sauce"/>
              </a:defRPr>
            </a:pPr>
            <a:r>
              <a:t>Design an NLP Transformer for sequential opcode modeling, a Graph Isomorphism Network (GIN) for CFGs, and a BiLSTM for chronological system call traces.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88368" y="2377440"/>
            <a:ext cx="51663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2200" b="1">
                <a:solidFill>
                  <a:srgbClr val="8C7753"/>
                </a:solidFill>
                <a:latin typeface="Open Sauce"/>
              </a:defRPr>
            </a:pPr>
            <a:r>
              <a:t>03</a:t>
            </a:r>
          </a:p>
          <a:p>
            <a:pPr>
              <a:spcAft>
                <a:spcPts val="800"/>
              </a:spcAft>
              <a:defRPr sz="1800" b="1">
                <a:solidFill>
                  <a:srgbClr val="331B0D"/>
                </a:solidFill>
                <a:latin typeface="Open Sauce"/>
              </a:defRPr>
            </a:pPr>
            <a:r>
              <a:t>Hyperspherical Latent Alignment</a:t>
            </a:r>
          </a:p>
          <a:p>
            <a:pPr>
              <a:defRPr sz="1450">
                <a:solidFill>
                  <a:srgbClr val="735F50"/>
                </a:solidFill>
                <a:latin typeface="Open Sauce"/>
              </a:defRPr>
            </a:pPr>
            <a:r>
              <a:t>Project heterogeneous embeddings into a unified 128-D unit hypersphere (𝕊¹²⁷) using Pairwise InfoNCE and Volumetric Gramian Representation Alignment Measure (GRAM).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897880"/>
            <a:ext cx="51663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2200" b="1">
                <a:solidFill>
                  <a:srgbClr val="A26A42"/>
                </a:solidFill>
                <a:latin typeface="Open Sauce"/>
              </a:defRPr>
            </a:pPr>
            <a:r>
              <a:t>04</a:t>
            </a:r>
          </a:p>
          <a:p>
            <a:pPr>
              <a:spcAft>
                <a:spcPts val="800"/>
              </a:spcAft>
              <a:defRPr sz="1800" b="1">
                <a:solidFill>
                  <a:srgbClr val="331B0D"/>
                </a:solidFill>
                <a:latin typeface="Open Sauce"/>
              </a:defRPr>
            </a:pPr>
            <a:r>
              <a:t>Adaptive Late Fusion &amp; Gating</a:t>
            </a:r>
          </a:p>
          <a:p>
            <a:pPr>
              <a:defRPr sz="1450">
                <a:solidFill>
                  <a:srgbClr val="735F50"/>
                </a:solidFill>
                <a:latin typeface="Open Sauce"/>
              </a:defRPr>
            </a:pPr>
            <a:r>
              <a:t>Implement dynamic channel attention with availability masking to ensure robust classification under missing, corrupted, or obfuscated feature streams.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56248" y="5897880"/>
            <a:ext cx="51663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2200" b="1">
                <a:solidFill>
                  <a:srgbClr val="2B4C5E"/>
                </a:solidFill>
                <a:latin typeface="Open Sauce"/>
              </a:defRPr>
            </a:pPr>
            <a:r>
              <a:t>05</a:t>
            </a:r>
          </a:p>
          <a:p>
            <a:pPr>
              <a:spcAft>
                <a:spcPts val="800"/>
              </a:spcAft>
              <a:defRPr sz="1800" b="1">
                <a:solidFill>
                  <a:srgbClr val="331B0D"/>
                </a:solidFill>
                <a:latin typeface="Open Sauce"/>
              </a:defRPr>
            </a:pPr>
            <a:r>
              <a:t>Dual-Branch Downstream Inference</a:t>
            </a:r>
          </a:p>
          <a:p>
            <a:pPr>
              <a:defRPr sz="1450">
                <a:solidFill>
                  <a:srgbClr val="735F50"/>
                </a:solidFill>
                <a:latin typeface="Open Sauce"/>
              </a:defRPr>
            </a:pPr>
            <a:r>
              <a:t>Deliver simultaneous calibrated binary classification and instant sub-millisecond FAISS vector similarity search for threat attribution.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88368" y="5897880"/>
            <a:ext cx="51663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2200" b="1">
                <a:solidFill>
                  <a:srgbClr val="331B0D"/>
                </a:solidFill>
                <a:latin typeface="Open Sauce"/>
              </a:defRPr>
            </a:pPr>
            <a:r>
              <a:t>06</a:t>
            </a:r>
          </a:p>
          <a:p>
            <a:pPr>
              <a:spcAft>
                <a:spcPts val="800"/>
              </a:spcAft>
              <a:defRPr sz="1800" b="1">
                <a:solidFill>
                  <a:srgbClr val="331B0D"/>
                </a:solidFill>
                <a:latin typeface="Open Sauce"/>
              </a:defRPr>
            </a:pPr>
            <a:r>
              <a:t>Laptop-First Deployment &amp; Rigor</a:t>
            </a:r>
          </a:p>
          <a:p>
            <a:pPr>
              <a:defRPr sz="1450">
                <a:solidFill>
                  <a:srgbClr val="735F50"/>
                </a:solidFill>
                <a:latin typeface="Open Sauce"/>
              </a:defRPr>
            </a:pPr>
            <a:r>
              <a:t>Optimize execution for standard CPU hardware (&lt;30 ms forward latency, &lt;550 MB RAM) while maintaining strict non-fabrication scientific integrity.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91872" y="9555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C7753"/>
                </a:solidFill>
                <a:latin typeface="Open Sauce"/>
              </a:defRPr>
            </a:pPr>
            <a: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777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05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777240"/>
            <a:ext cx="8119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MULTI-MODAL MALWARE ANALYSIS RESEARCH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234440"/>
            <a:ext cx="16239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1B0D"/>
                </a:solidFill>
                <a:latin typeface="Open Sauce"/>
              </a:defRPr>
            </a:pPr>
            <a:r>
              <a:t>Four-Stage Multi-Modal Analysis Architecture</a:t>
            </a:r>
          </a:p>
          <a:p>
            <a:pPr>
              <a:defRPr sz="1800">
                <a:solidFill>
                  <a:srgbClr val="735F50"/>
                </a:solidFill>
                <a:latin typeface="Open Sauce"/>
              </a:defRPr>
            </a:pPr>
            <a:r>
              <a:t>End-to-end dataflow from raw binary ingestion through contrastive alignment to dual decision heads.</a:t>
            </a:r>
          </a:p>
        </p:txBody>
      </p:sp>
      <p:pic xmlns:r="http://schemas.openxmlformats.org/officeDocument/2006/relationships">
        <p:nvPicPr>
          <p:cNvPr id="5" name="Picture 4" descr="arch_t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240280"/>
            <a:ext cx="16239744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24128" y="7086600"/>
            <a:ext cx="3840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B4C5E"/>
                </a:solidFill>
                <a:latin typeface="Open Sauce"/>
              </a:defRPr>
            </a:pPr>
            <a:r>
              <a:t>STAGE 1: EXTRACTION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Multi-Modal Parsing</a:t>
            </a:r>
          </a:p>
          <a:p>
            <a:pPr>
              <a:spcAft>
                <a:spcPts val="600"/>
              </a:spcAft>
              <a:defRPr sz="1300">
                <a:solidFill>
                  <a:srgbClr val="331B0D"/>
                </a:solidFill>
                <a:latin typeface="Open Sauce"/>
              </a:defRPr>
            </a:pPr>
            <a:r>
              <a:t>• LIEF PE/ELF header inspection</a:t>
            </a:r>
          </a:p>
          <a:p>
            <a:pPr>
              <a:spcAft>
                <a:spcPts val="600"/>
              </a:spcAft>
              <a:defRPr sz="1300">
                <a:solidFill>
                  <a:srgbClr val="331B0D"/>
                </a:solidFill>
                <a:latin typeface="Open Sauce"/>
              </a:defRPr>
            </a:pPr>
            <a:r>
              <a:t>• Capstone linear disassembly</a:t>
            </a:r>
          </a:p>
          <a:p>
            <a:pPr>
              <a:spcAft>
                <a:spcPts val="600"/>
              </a:spcAft>
              <a:defRPr sz="1300">
                <a:solidFill>
                  <a:srgbClr val="331B0D"/>
                </a:solidFill>
                <a:latin typeface="Open Sauce"/>
              </a:defRPr>
            </a:pPr>
            <a:r>
              <a:t>• NetworkX basic-block builder</a:t>
            </a:r>
          </a:p>
          <a:p>
            <a:pPr>
              <a:spcAft>
                <a:spcPts val="600"/>
              </a:spcAft>
              <a:defRPr sz="1300">
                <a:solidFill>
                  <a:srgbClr val="331B0D"/>
                </a:solidFill>
                <a:latin typeface="Open Sauce"/>
              </a:defRPr>
            </a:pPr>
            <a:r>
              <a:t>• Cuckoo sandbox trace parser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7216" y="7086600"/>
            <a:ext cx="3840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67365"/>
                </a:solidFill>
                <a:latin typeface="Open Sauce"/>
              </a:defRPr>
            </a:pPr>
            <a:r>
              <a:t>STAGE 2: ENCODERS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Deep Neural Networks</a:t>
            </a:r>
          </a:p>
          <a:p>
            <a:pPr>
              <a:spcAft>
                <a:spcPts val="600"/>
              </a:spcAft>
              <a:defRPr sz="1300">
                <a:solidFill>
                  <a:srgbClr val="331B0D"/>
                </a:solidFill>
                <a:latin typeface="Open Sauce"/>
              </a:defRPr>
            </a:pPr>
            <a:r>
              <a:t>• Opcode Transformer (L ≤ 2048)</a:t>
            </a:r>
          </a:p>
          <a:p>
            <a:pPr>
              <a:spcAft>
                <a:spcPts val="600"/>
              </a:spcAft>
              <a:defRPr sz="1300">
                <a:solidFill>
                  <a:srgbClr val="331B0D"/>
                </a:solidFill>
                <a:latin typeface="Open Sauce"/>
              </a:defRPr>
            </a:pPr>
            <a:r>
              <a:t>• CFG-GIN (3 Layers, Weisfeiler-Lehman)</a:t>
            </a:r>
          </a:p>
          <a:p>
            <a:pPr>
              <a:spcAft>
                <a:spcPts val="600"/>
              </a:spcAft>
              <a:defRPr sz="1300">
                <a:solidFill>
                  <a:srgbClr val="331B0D"/>
                </a:solidFill>
                <a:latin typeface="Open Sauce"/>
              </a:defRPr>
            </a:pPr>
            <a:r>
              <a:t>• Syscall BiLSTM (512 tokens)</a:t>
            </a:r>
          </a:p>
          <a:p>
            <a:pPr>
              <a:spcAft>
                <a:spcPts val="600"/>
              </a:spcAft>
              <a:defRPr sz="1300">
                <a:solidFill>
                  <a:srgbClr val="331B0D"/>
                </a:solidFill>
                <a:latin typeface="Open Sauce"/>
              </a:defRPr>
            </a:pPr>
            <a:r>
              <a:t>• Encoders project to z_m ∈ ℝ¹²⁸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90304" y="7086600"/>
            <a:ext cx="3840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8C7753"/>
                </a:solidFill>
                <a:latin typeface="Open Sauce"/>
              </a:defRPr>
            </a:pPr>
            <a:r>
              <a:t>STAGE 3: ALIGNMENT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Hyperspherical Latent Space</a:t>
            </a:r>
          </a:p>
          <a:p>
            <a:pPr>
              <a:spcAft>
                <a:spcPts val="600"/>
              </a:spcAft>
              <a:defRPr sz="1300">
                <a:solidFill>
                  <a:srgbClr val="331B0D"/>
                </a:solidFill>
                <a:latin typeface="Open Sauce"/>
              </a:defRPr>
            </a:pPr>
            <a:r>
              <a:t>• L₂ Normalization to 𝕊¹²⁷ (d = 128)</a:t>
            </a:r>
          </a:p>
          <a:p>
            <a:pPr>
              <a:spcAft>
                <a:spcPts val="600"/>
              </a:spcAft>
              <a:defRPr sz="1300">
                <a:solidFill>
                  <a:srgbClr val="331B0D"/>
                </a:solidFill>
                <a:latin typeface="Open Sauce"/>
              </a:defRPr>
            </a:pPr>
            <a:r>
              <a:t>• Pairwise InfoNCE Loss (τ = 0.07)</a:t>
            </a:r>
          </a:p>
          <a:p>
            <a:pPr>
              <a:spcAft>
                <a:spcPts val="600"/>
              </a:spcAft>
              <a:defRPr sz="1300">
                <a:solidFill>
                  <a:srgbClr val="331B0D"/>
                </a:solidFill>
                <a:latin typeface="Open Sauce"/>
              </a:defRPr>
            </a:pPr>
            <a:r>
              <a:t>• Volumetric GRAM Determinant Loss</a:t>
            </a:r>
          </a:p>
          <a:p>
            <a:pPr>
              <a:spcAft>
                <a:spcPts val="600"/>
              </a:spcAft>
              <a:defRPr sz="1300">
                <a:solidFill>
                  <a:srgbClr val="331B0D"/>
                </a:solidFill>
                <a:latin typeface="Open Sauce"/>
              </a:defRPr>
            </a:pPr>
            <a:r>
              <a:t>• Prevents dimensional collapse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423392" y="7086600"/>
            <a:ext cx="3840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A26A42"/>
                </a:solidFill>
                <a:latin typeface="Open Sauce"/>
              </a:defRPr>
            </a:pPr>
            <a:r>
              <a:t>STAGE 4: INFERENCE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Adaptive Fusion &amp; Heads</a:t>
            </a:r>
          </a:p>
          <a:p>
            <a:pPr>
              <a:spcAft>
                <a:spcPts val="600"/>
              </a:spcAft>
              <a:defRPr sz="1300">
                <a:solidFill>
                  <a:srgbClr val="331B0D"/>
                </a:solidFill>
                <a:latin typeface="Open Sauce"/>
              </a:defRPr>
            </a:pPr>
            <a:r>
              <a:t>• Dynamic Channel Attention (α_m)</a:t>
            </a:r>
          </a:p>
          <a:p>
            <a:pPr>
              <a:spcAft>
                <a:spcPts val="600"/>
              </a:spcAft>
              <a:defRPr sz="1300">
                <a:solidFill>
                  <a:srgbClr val="331B0D"/>
                </a:solidFill>
                <a:latin typeface="Open Sauce"/>
              </a:defRPr>
            </a:pPr>
            <a:r>
              <a:t>• Softmax availability mask (-10⁹)</a:t>
            </a:r>
          </a:p>
          <a:p>
            <a:pPr>
              <a:spcAft>
                <a:spcPts val="600"/>
              </a:spcAft>
              <a:defRPr sz="1300">
                <a:solidFill>
                  <a:srgbClr val="331B0D"/>
                </a:solidFill>
                <a:latin typeface="Open Sauce"/>
              </a:defRPr>
            </a:pPr>
            <a:r>
              <a:t>• 2-Layer MLP Malware Classifier</a:t>
            </a:r>
          </a:p>
          <a:p>
            <a:pPr>
              <a:spcAft>
                <a:spcPts val="600"/>
              </a:spcAft>
              <a:defRPr sz="1300">
                <a:solidFill>
                  <a:srgbClr val="331B0D"/>
                </a:solidFill>
                <a:latin typeface="Open Sauce"/>
              </a:defRPr>
            </a:pPr>
            <a:r>
              <a:t>• FAISS IndexFlatIP Cosine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91872" y="9555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C7753"/>
                </a:solidFill>
                <a:latin typeface="Open Sauce"/>
              </a:defRPr>
            </a:pPr>
            <a: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777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06 / FEATURE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777240"/>
            <a:ext cx="8119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MULTI-MODAL MALWARE ANALYSIS RESEARCH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234440"/>
            <a:ext cx="16239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1B0D"/>
                </a:solidFill>
                <a:latin typeface="Open Sauce"/>
              </a:defRPr>
            </a:pPr>
            <a:r>
              <a:t>Three Orthogonal Views of Compiled Executables</a:t>
            </a:r>
          </a:p>
          <a:p>
            <a:pPr>
              <a:defRPr sz="1800">
                <a:solidFill>
                  <a:srgbClr val="735F50"/>
                </a:solidFill>
                <a:latin typeface="Open Sauce"/>
              </a:defRPr>
            </a:pPr>
            <a:r>
              <a:t>Extracting distinct static, structural, and behavioral representations from raw PE/ELF binaries.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2331720"/>
            <a:ext cx="5166360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B4C5E"/>
                </a:solidFill>
                <a:latin typeface="Open Sauce"/>
              </a:defRPr>
            </a:pPr>
            <a:r>
              <a:t>MODALITY 1 • LEXICAL SYNTAX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Static Opcode Stream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Ingestion Engine: Capstone disassembly toolchain with LIEF PE/ELF section mapping.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Tokenization: Instruction mnemonics mapped to a 4,096-entry vocabulary ('mov', 'xor', 'push', 'call', 'cmp', 'jmp').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Operand Normalization: Concrete register IDs and memory offsets generalized to canonical tokens ('&lt;REG&gt;', '&lt;MEM&gt;', '&lt;IMM&gt;') to combat register renaming.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Sequence Bound: Padded or truncated to L = 2,048 tokens; covers core payload instructions.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Evidence Captured: Local algorithm structure, cryptographic constant loading, bitwise manipulations, and compiler-specific idioms.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6248" y="2331720"/>
            <a:ext cx="5166360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67365"/>
                </a:solidFill>
                <a:latin typeface="Open Sauce"/>
              </a:defRPr>
            </a:pPr>
            <a:r>
              <a:t>MODALITY 2 • TOPOLOGICAL STRUCTURE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Control Flow Graph (CFG)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Ingestion Engine: Basic-block boundary identification and branch target resolution via NetworkX and PyG.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Graph Structure: Directed graph G = (V, E) where nodes represent contiguous basic blocks and edges indicate jump/call execution transfers.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Node Attributes: 16-dimensional continuous feature vectors per block (instruction count, arithmetic density, conditional branch ratios, mnemonic entropy).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Memory Safeguards: Graph sampling limits to maximum 512 basic blocks to prevent memory exhaustion on large binaries.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Evidence Captured: Execution branching topology, function prologue patterns, and subroutine calls invariant to instruction reordering.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88368" y="2331720"/>
            <a:ext cx="5166360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A26A42"/>
                </a:solidFill>
                <a:latin typeface="Open Sauce"/>
              </a:defRPr>
            </a:pPr>
            <a:r>
              <a:t>MODALITY 3 • DYNAMIC BEHAVIOR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Runtime System Call Trace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Ingestion Engine: Isolated sandbox detonation (Cuckoo / local VM tracer) capturing kernel-level system calls.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Trace Representation: Time-ordered sequence of 512 privileged OS invocations ('NtCreateFile', 'RegOpenKeyEx', 'VirtualAllocEx', 'InternetOpenUrl').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Vocabulary: 128 canonicalized Windows/Linux API tokens mapped to execution categories.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Fallback Mechanism: If dynamic trace is skipped or uncomputable, learned zero-prior embedding is substituted and mask is toggled.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Evidence Captured: True runtime malicious intent (persistence creation, process injection, C2 beaconing) immune to on-disk packing and code encryption.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91872" y="9555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C7753"/>
                </a:solidFill>
                <a:latin typeface="Open Sauce"/>
              </a:defRPr>
            </a:pPr>
            <a: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777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07 / NEURAL ENCODERS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777240"/>
            <a:ext cx="8119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MULTI-MODAL MALWARE ANALYSIS RESEARCH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234440"/>
            <a:ext cx="16239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1B0D"/>
                </a:solidFill>
                <a:latin typeface="Open Sauce"/>
              </a:defRPr>
            </a:pPr>
            <a:r>
              <a:t>Specialized Neural Encoders for Heterogeneous Modalities</a:t>
            </a:r>
          </a:p>
          <a:p>
            <a:pPr>
              <a:defRPr sz="1800">
                <a:solidFill>
                  <a:srgbClr val="735F50"/>
                </a:solidFill>
                <a:latin typeface="Open Sauce"/>
              </a:defRPr>
            </a:pPr>
            <a:r>
              <a:t>Tailoring neural inductive biases to sequential, topological, and temporal data structures.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2331720"/>
            <a:ext cx="5166360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B4C5E"/>
                </a:solidFill>
                <a:latin typeface="Open Sauce"/>
              </a:defRPr>
            </a:pPr>
            <a:r>
              <a:t>OPCODE ENCODER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Compact Transformer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Inductive Bias: Full self-attention models long-range instruction dependencies across linear assembly sequences.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Vocabulary &amp; Embedding: 4,096 opcode tokens projected to d_emb = 128 embedding space with sinusoidal positional encodings.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Transformer Layers: 2 encoder layers, 4 attention heads (d_k = 32 per head), hidden feed-forward dimension d_ff = 256.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Mathematical Core:</a:t>
            </a:r>
            <a:br/>
            <a:r>
              <a:t>  Attention(Q, K, V) = softmax(Q K^T / √d_k) V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Readout &amp; Projection: Mean pooling over non-padded sequence tokens followed by linear projection to 128-D output vector:</a:t>
            </a:r>
            <a:br/>
            <a:r>
              <a:t>  z_opcode = Linear(Transformer(tokens)) ∈ ℝ¹²⁸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Optimization: Dropout rate = 0.1, LayerNorm stabilization.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6248" y="2331720"/>
            <a:ext cx="5166360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67365"/>
                </a:solidFill>
                <a:latin typeface="Open Sauce"/>
              </a:defRPr>
            </a:pPr>
            <a:r>
              <a:t>CFG ENCODER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Graph Isomorphism Net (GIN)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Inductive Bias: GIN achieves maximum discriminative power among message-passing GNNs (Weisfeiler-Lehman 1-WL isomorphism test equivalence).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Input Specification: Node feature matrix X ∈ ℝ^(N x 16) and edge connectivity index E ∈ ℝ^(2 x M).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Message Passing: 3 GIN layers with learnable parameter ε and 2-layer MLP node update functions:</a:t>
            </a:r>
            <a:br/>
            <a:r>
              <a:t>  h_v^(k) = MLP^(k)((1 + ε^(k)) h_v^(k-1) + Σ h_u^(k-1))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Hidden Representation: 128 hidden units per node across all layers with batch normalization.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Graph Readout: Concatenation of global mean and global add pooling to capture both local density and total graph volume:</a:t>
            </a:r>
            <a:br/>
            <a:r>
              <a:t>  z_cfg = Linear([Pool_mean(H) || Pool_add(H)]) ∈ ℝ¹²⁸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88368" y="2331720"/>
            <a:ext cx="5166360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A26A42"/>
                </a:solidFill>
                <a:latin typeface="Open Sauce"/>
              </a:defRPr>
            </a:pPr>
            <a:r>
              <a:t>DYNAMIC SYSCALL ENCODER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Syscall BiLSTM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Inductive Bias: Bidirectional recurrent modeling captures sequential API invocation chains with forward cause and backward effect context.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Architecture: 1-layer Bidirectional LSTM, embedding dimension d_emb = 64, hidden dimension d_h = 128.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Forward/Backward State:</a:t>
            </a:r>
            <a:br/>
            <a:r>
              <a:t>  h_t = [h_forward_t || h_backward_t] ∈ ℝ²⁵⁶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Sequence Modeling: Reads sequence of 512 system call tokens; extracts temporal behavioral patterns (file creation ➔ registry write ➔ network socket).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Output Projection: Final forward and backward hidden states concatenated and mapped to shared latent space:</a:t>
            </a:r>
            <a:br/>
            <a:r>
              <a:t>  z_syscall = Linear(h_T) ∈ ℝ¹²⁸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Learned Prior: Fallback embedding when trace is omitted.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91872" y="9555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C7753"/>
                </a:solidFill>
                <a:latin typeface="Open Sauce"/>
              </a:defRPr>
            </a:pPr>
            <a: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777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08 / CONTRASTIVE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777240"/>
            <a:ext cx="8119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MULTI-MODAL MALWARE ANALYSIS RESEARCH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234440"/>
            <a:ext cx="16239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1B0D"/>
                </a:solidFill>
                <a:latin typeface="Open Sauce"/>
              </a:defRPr>
            </a:pPr>
            <a:r>
              <a:t>Pairwise InfoNCE + Volumetric GRAM Regularization</a:t>
            </a:r>
          </a:p>
          <a:p>
            <a:pPr>
              <a:defRPr sz="1800">
                <a:solidFill>
                  <a:srgbClr val="735F50"/>
                </a:solidFill>
                <a:latin typeface="Open Sauce"/>
              </a:defRPr>
            </a:pPr>
            <a:r>
              <a:t>Harmonizing disparate neural representations into a unified 128-D hyperspherical latent space.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2331720"/>
            <a:ext cx="7936992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B4C5E"/>
                </a:solidFill>
                <a:latin typeface="Open Sauce"/>
              </a:defRPr>
            </a:pPr>
            <a:r>
              <a:t>PAIRWISE CONTRASTIVE OBJECTIVE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Multi-Channel InfoNCE Loss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Purpose: Pulls embeddings of identical binaries across modalities together while pushing embeddings of distinct binaries apart on unit hypersphere 𝕊¹²⁷.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Unit Hypersphere Normalization:</a:t>
            </a:r>
            <a:br/>
            <a:r>
              <a:t>  z̃_m = z_m / ||z_m||₂  ∈ ℝ¹²⁸  (where ||z̃_m||₂ = 1.0)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Symmetric Pairwise InfoNCE Formulation:</a:t>
            </a:r>
            <a:br/>
            <a:r>
              <a:t>  ℒ_InfoNCE(z₁, z₂) = -½N Σ [ log(exp(z̃₁,i · z̃₂,i / τ) / Σ exp(z̃₁,i · z̃₂,k / τ)) +</a:t>
            </a:r>
            <a:br/>
            <a:r>
              <a:t>                            log(exp(z̃₂,i · z̃₁,i / τ) / Σ exp(z̃₂,i · z̃₁,k / τ)) ]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Tri-Modal Cross-Channel Loss:</a:t>
            </a:r>
            <a:br/>
            <a:r>
              <a:t>  ℒ_InfoNCE = ℒ(z_op, z_cfg) + ℒ(z_op, z_sys) + ℒ(z_cfg, z_sys)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Temperature Parameter: Scaled by temperature τ = 0.07 (or 0.05 in manifest) to sharpen density distribution.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Missing Modality Handling: Pairs involving syscall trace are dynamically masked out when dynamic trace is absent.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2331720"/>
            <a:ext cx="7936992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8C7753"/>
                </a:solidFill>
                <a:latin typeface="Open Sauce"/>
              </a:defRPr>
            </a:pPr>
            <a:r>
              <a:t>GEOMETRIC REGULARIZATION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Volumetric GRAM Determinant Loss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Theoretical Foundation: Measures the multi-dimensional parallelotope volume formed by tri-modal feature vectors via the Gramian determinant.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Gram Matrix Formulation: For sample i, stack normalized embeddings Z_i = [z̃_op, z̃_cfg, z̃_sys] ∈ ℝ^(128 x 3):</a:t>
            </a:r>
            <a:br/>
            <a:r>
              <a:t>  G_i = Z_i^T Z_i ∈ ℝ^(3 x 3)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Numerical Stabilization: Positive definite diagonal safeguard:</a:t>
            </a:r>
            <a:br/>
            <a:r>
              <a:t>  G_i_reg = G_i + ε I₃  (ε = 10⁻⁴)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Objective Equation (Equation 10):</a:t>
            </a:r>
            <a:br/>
            <a:r>
              <a:t>  ℒ_GRAM = (1/N) Σ det(G_i^+) - λ_sep · log(1 + det(G_i^-))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Collinear Convergence: Minimizing det(G⁺) forces the 3 modality vectors of the same binary to collapse into collinear alignment.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Collapse Prevention: Maximizing det(G⁻) for negative sample triplets guarantees the hypersphere does not suffer dimensional collapse.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Total Loss: ℒ_total = ℒ_classification + ℒ_InfoNCE + γ · ℒ_GRAM  (γ = 0.5)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91872" y="9555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C7753"/>
                </a:solidFill>
                <a:latin typeface="Open Sauce"/>
              </a:defRPr>
            </a:pPr>
            <a: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777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09 / ADAPTIVE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777240"/>
            <a:ext cx="8119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MULTI-MODAL MALWARE ANALYSIS RESEARCH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234440"/>
            <a:ext cx="16239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1B0D"/>
                </a:solidFill>
                <a:latin typeface="Open Sauce"/>
              </a:defRPr>
            </a:pPr>
            <a:r>
              <a:t>Dynamic Modality Reliability &amp; Missing-Stream Gating</a:t>
            </a:r>
          </a:p>
          <a:p>
            <a:pPr>
              <a:defRPr sz="1800">
                <a:solidFill>
                  <a:srgbClr val="735F50"/>
                </a:solidFill>
                <a:latin typeface="Open Sauce"/>
              </a:defRPr>
            </a:pPr>
            <a:r>
              <a:t>Adaptive channel attention reallocates representation weight away from obfuscated or missing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2331720"/>
            <a:ext cx="6766560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B4C5E"/>
                </a:solidFill>
                <a:latin typeface="Open Sauce"/>
              </a:defRPr>
            </a:pPr>
            <a:r>
              <a:t>MATHEMATICAL FORMULATION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Channel Gating &amp; Masking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Dynamic Channel Scoring:</a:t>
            </a:r>
            <a:br/>
            <a:r>
              <a:t>  Each normalized vector z̃_m is projected through a modality-specific scoring layer with global attention vector w_a ∈ ℝ⁶⁴:</a:t>
            </a:r>
            <a:br/>
            <a:r>
              <a:t>  score_m = w_a^T tanh(W_m z̃_m + b_m)  for m ∈ {op, cfg, sys}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Availability Masking (-10⁹ Penalty):</a:t>
            </a:r>
            <a:br/>
            <a:r>
              <a:t>  Let m_m ∈ {0, 1} represent modality presence. Uncomputed or corrupted streams are penalized to zero out their gradient:</a:t>
            </a:r>
            <a:br/>
            <a:r>
              <a:t>  s̃_m = score_m + (1.0 - m_m) · (-10⁹)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Softmax Attention Distribution:</a:t>
            </a:r>
            <a:br/>
            <a:r>
              <a:t>  α_m = exp(s̃_m) / Σ exp(s̃_k)   (Σ α_m = 1.0)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Unified Representation Integration:</a:t>
            </a:r>
            <a:br/>
            <a:r>
              <a:t>  z_fused = LayerNorm( Σ α_m z̃_m ) ∈ ℝ¹²⁸</a:t>
            </a:r>
            <a:br/>
            <a:r>
              <a:t>  z_fused_norm = z_fused / ||z_fused||₂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Invariance: Model dynamically adapts to missing sandbox traces without modifying encoder weights.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56448" y="2331720"/>
            <a:ext cx="9107424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A26A42"/>
                </a:solidFill>
                <a:latin typeface="Open Sauce"/>
              </a:defRPr>
            </a:pPr>
            <a:r>
              <a:t>EMPIRICAL BEHAVIOR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Attention Shifts Under Adversarial Attack</a:t>
            </a:r>
          </a:p>
        </p:txBody>
      </p:sp>
      <p:pic>
        <p:nvPicPr>
          <p:cNvPr id="7" name="Picture 6" descr="chart_at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337560"/>
            <a:ext cx="868680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66760" y="7178040"/>
            <a:ext cx="8686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EMPIRICALLY DEMONSTRATED ADAPTABILITY:</a:t>
            </a:r>
          </a:p>
          <a:p>
            <a:pPr>
              <a:defRPr sz="1400">
                <a:solidFill>
                  <a:srgbClr val="331B0D"/>
                </a:solidFill>
                <a:latin typeface="Open Sauce"/>
              </a:defRPr>
            </a:pPr>
            <a:r>
              <a:t>• Under UPX packing, opcode weight drops from 60.6% ➔ 38.9%, while dynamic syscall attention surges to 34.3%.</a:t>
            </a:r>
            <a:br/>
            <a:r>
              <a:t>• Under Sandbox Stalling, syscall weight drops to 0.0%, and static modalities compensate (Opcode: 79.0%, CFG: 21.0%), maintaining 98.0% Accuracy!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91872" y="9555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C7753"/>
                </a:solidFill>
                <a:latin typeface="Open Sauce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777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10 / DOWNSTREAM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777240"/>
            <a:ext cx="8119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MULTI-MODAL MALWARE ANALYSIS RESEARCH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234440"/>
            <a:ext cx="16239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1B0D"/>
                </a:solidFill>
                <a:latin typeface="Open Sauce"/>
              </a:defRPr>
            </a:pPr>
            <a:r>
              <a:t>Dual-Branch Inference: Classification &amp; Threat Hunting</a:t>
            </a:r>
          </a:p>
          <a:p>
            <a:pPr>
              <a:defRPr sz="1800">
                <a:solidFill>
                  <a:srgbClr val="735F50"/>
                </a:solidFill>
                <a:latin typeface="Open Sauce"/>
              </a:defRPr>
            </a:pPr>
            <a:r>
              <a:t>Leveraging the unified 128-D latent representation for simultaneous classification and nearest-neighbor 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2331720"/>
            <a:ext cx="7936992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B4C5E"/>
                </a:solidFill>
                <a:latin typeface="Open Sauce"/>
              </a:defRPr>
            </a:pPr>
            <a:r>
              <a:t>DOWNSTREAM BRANCH 1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Calibrated Malware Classification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Classifier Architecture:</a:t>
            </a:r>
            <a:br/>
            <a:r>
              <a:t>  Multi-layer perceptron over the fused unit latent vector z_fused ∈ ℝ¹²⁸:</a:t>
            </a:r>
            <a:br/>
            <a:r>
              <a:t>  z_fused ➔ Linear(128 ➔ 64) ➔ ReLU ➔ Dropout(0.1) ➔ Linear(64 ➔ 2) ➔ Softmax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Probabilistic Decision Calibration:</a:t>
            </a:r>
            <a:br/>
            <a:r>
              <a:t>  Computes calibrated probabilities P(Malware | x) and P(Benign | x).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Operational Decision Modes (Threshold Sweeper):</a:t>
            </a:r>
            <a:br/>
            <a:r>
              <a:t>  - Balanced Operating Mode (Threshold θ = 0.50): F1 = 0.9993, FNR = 0.00%</a:t>
            </a:r>
            <a:br/>
            <a:r>
              <a:t>  - High-Security Mode (θ = 0.20): Zero tolerance for false negatives in critical infra</a:t>
            </a:r>
            <a:br/>
            <a:r>
              <a:t>  - Low-False-Alarm Mode (θ = 0.85): Prevents SOC analyst alert fatigue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Uncertainty Abstention Mechanism:</a:t>
            </a:r>
            <a:br/>
            <a:r>
              <a:t>  If confidence |P(Malware) - 0.5| &lt; δ_abstain, sample is flagged for human reverse engineering (Abstention rate = 0.0% on clean test set).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2331720"/>
            <a:ext cx="7936992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67365"/>
                </a:solidFill>
                <a:latin typeface="Open Sauce"/>
              </a:defRPr>
            </a:pPr>
            <a:r>
              <a:t>DOWNSTREAM BRANCH 2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FAISS Hyperspherical Vector Index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Indexing Strategy: FAISS IndexFlatIP (Inner Product) indexing over normalized 128-D embeddings, mathematically equivalent to exact cosine similarity:</a:t>
            </a:r>
            <a:br/>
            <a:r>
              <a:t>  sim(u, v) = u · v   (since ||u|| = ||v|| = 1.0)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Ultra-Fast Retrieval: Sub-millisecond nearest neighbor query (&lt; 1 ms on CPU) across thousands of reference malware samples.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Threat Intelligence Capabilities:</a:t>
            </a:r>
            <a:br/>
            <a:r>
              <a:t>  1. Malware Family Attribution: Instantly attributes unknown variants to known families (WannaCry, Emotet, Mirai, RedLine, CobaltStrike).</a:t>
            </a:r>
            <a:br/>
            <a:r>
              <a:t>  2. Campaign &amp; Actor Tracking: Discovers cross-binary code reuse and shared toolkits across distinct threat actor campaigns.</a:t>
            </a:r>
            <a:br/>
            <a:r>
              <a:t>  3. Zero-Day Neighborhood Discovery: Clustered similarity exposes emerging zero-day malware sharing behavioral subgraphs with known threats.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Pairwise Structural Comparator: Computes fine-grained modality similarity breakdown (Opcode, CFG, Syscall) and shared suspicious API imports.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91872" y="9555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C7753"/>
                </a:solidFill>
                <a:latin typeface="Open Sauce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777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11 / OPERATIONAL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777240"/>
            <a:ext cx="8119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MULTI-MODAL MALWARE ANALYSIS RESEARCH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234440"/>
            <a:ext cx="16239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1B0D"/>
                </a:solidFill>
                <a:latin typeface="Open Sauce"/>
              </a:defRPr>
            </a:pPr>
            <a:r>
              <a:t>Two-Stage Hierarchical Binary Triage Architecture</a:t>
            </a:r>
          </a:p>
          <a:p>
            <a:pPr>
              <a:defRPr sz="1800">
                <a:solidFill>
                  <a:srgbClr val="735F50"/>
                </a:solidFill>
                <a:latin typeface="Open Sauce"/>
              </a:defRPr>
            </a:pPr>
            <a:r>
              <a:t>Resolving &gt;90% of executables in fast static triage before committing expensive sandbox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2331720"/>
            <a:ext cx="6217920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B4C5E"/>
                </a:solidFill>
                <a:latin typeface="Open Sauce"/>
              </a:defRPr>
            </a:pPr>
            <a:r>
              <a:t>TWO-STAGE DECISION FLOW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Hierarchical Screening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Stage 1: Fast Static Screening (17.53 ms)</a:t>
            </a:r>
            <a:br/>
            <a:r>
              <a:t>  Ingests PE/ELF headers, runs Opcode Transformer and CFG-GIN.</a:t>
            </a:r>
            <a:br/>
            <a:r>
              <a:t>  High throughput of 57.0 samples/sec on standard CPU.</a:t>
            </a:r>
            <a:br/>
            <a:r>
              <a:t>  Resolves obvious benign utilities and high-confidence malware immediately.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Stage 1 Confidence Evaluation:</a:t>
            </a:r>
            <a:br/>
            <a:r>
              <a:t>  Evaluate P(Malware) from static encoders.</a:t>
            </a:r>
            <a:br/>
            <a:r>
              <a:t>  IF |P(Malware) - 0.5| ≥ θ_confidence:</a:t>
            </a:r>
            <a:br/>
            <a:r>
              <a:t>    ➔ IMMEDIATE DECISION (Skip Sandbox!)</a:t>
            </a:r>
            <a:br/>
            <a:r>
              <a:t>  ELSE (Ambiguous / Suspicious / Packed):</a:t>
            </a:r>
            <a:br/>
            <a:r>
              <a:t>    ➔ ESCALATE TO STAGE 2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Stage 2: Deep Sandbox Detonation</a:t>
            </a:r>
            <a:br/>
            <a:r>
              <a:t>  Triggered only for low-confidence or high-entropy samples.</a:t>
            </a:r>
            <a:br/>
            <a:r>
              <a:t>  Executes binary inside instrumented VM to capture system call traces.</a:t>
            </a:r>
            <a:br/>
            <a:r>
              <a:t>  Recomputes tri-modal fusion with dynamic attention gating.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SOC Impact: Cuts dynamic VM execution overhead by &gt;90%, saving massive hardware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07808" y="2331720"/>
            <a:ext cx="9656064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A26A42"/>
                </a:solidFill>
                <a:latin typeface="Open Sauce"/>
              </a:defRPr>
            </a:pPr>
            <a:r>
              <a:t>EMPIRICAL LATENCY BENCHMARKS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CPU Hardware Feasibility</a:t>
            </a:r>
          </a:p>
        </p:txBody>
      </p:sp>
      <p:pic xmlns:r="http://schemas.openxmlformats.org/officeDocument/2006/relationships">
        <p:nvPicPr>
          <p:cNvPr id="7" name="Picture 6" descr="chart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337560"/>
            <a:ext cx="923544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7178040"/>
            <a:ext cx="9235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HARDWARE &amp; OPERATIONAL BENCHMARK SUMMARY:</a:t>
            </a:r>
          </a:p>
          <a:p>
            <a:pPr>
              <a:defRPr sz="1400">
                <a:solidFill>
                  <a:srgbClr val="331B0D"/>
                </a:solidFill>
                <a:latin typeface="Open Sauce"/>
              </a:defRPr>
            </a:pPr>
            <a:r>
              <a:t>• Total Neural Forward Latency: 28.87 ms per binary (34.6 samples/sec on single CPU core).</a:t>
            </a:r>
            <a:br/>
            <a:r>
              <a:t>• Memory Profile: 512.5 MB RSS with just 44.08 MB delta during peak inference.</a:t>
            </a:r>
            <a:br/>
            <a:r>
              <a:t>• Conclusion: Platform is fully capable of real-time operation on analyst laptops without GPUs.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91872" y="9555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C7753"/>
                </a:solidFill>
                <a:latin typeface="Open Sauce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777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12 / SOFTWARE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777240"/>
            <a:ext cx="8119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MULTI-MODAL MALWARE ANALYSIS RESEARCH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234440"/>
            <a:ext cx="16239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1B0D"/>
                </a:solidFill>
                <a:latin typeface="Open Sauce"/>
              </a:defRPr>
            </a:pPr>
            <a:r>
              <a:t>Verified Engineering &amp; Technology Stack</a:t>
            </a:r>
          </a:p>
          <a:p>
            <a:pPr>
              <a:defRPr sz="1800">
                <a:solidFill>
                  <a:srgbClr val="735F50"/>
                </a:solidFill>
                <a:latin typeface="Open Sauce"/>
              </a:defRPr>
            </a:pPr>
            <a:r>
              <a:t>Production-quality open-source components powering feature extraction, modeling, and triage.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2377440"/>
            <a:ext cx="51663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B4C5E"/>
                </a:solidFill>
                <a:latin typeface="Open Sauce"/>
              </a:defRPr>
            </a:pPr>
            <a:r>
              <a:t>CORE DL &amp; COMPUTE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PyTorch 2.2+ &amp; Python 3.10+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PyTorch 2.2+ tensor execution engine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Native CPU-first and MPS/CUDA acceleration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NumPy &amp; SciPy for matrix operations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Complete Python 3.10+ modern typing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6248" y="2377440"/>
            <a:ext cx="51663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67365"/>
                </a:solidFill>
                <a:latin typeface="Open Sauce"/>
              </a:defRPr>
            </a:pPr>
            <a:r>
              <a:t>GRAPH NEURAL NETWORKS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PyTorch Geometric (PyG 2.5+)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PyG 2.5+ Graph Isomorphism Network modules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Sparse edge index message passing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Global add/mean pooling operators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Custom fallback for environments without PyG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88368" y="2377440"/>
            <a:ext cx="51663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8C7753"/>
                </a:solidFill>
                <a:latin typeface="Open Sauce"/>
              </a:defRPr>
            </a:pPr>
            <a:r>
              <a:t>REVERSE ENGINEERING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LIEF &amp; Capstone Engine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LIEF for robust PE &amp; ELF structural parsing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Capstone Engine for x86/x64 disassembly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NetworkX for basic-block CFG assembly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Shannon entropy calculation per section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897880"/>
            <a:ext cx="51663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A26A42"/>
                </a:solidFill>
                <a:latin typeface="Open Sauce"/>
              </a:defRPr>
            </a:pPr>
            <a:r>
              <a:t>DYNAMIC SANDBOXING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Cuckoo &amp; Local VM Tracer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Cuckoo API connector &amp; local VM abstraction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Canonical 128-token system call taxonomy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Temporal sequence parsing and filtering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Headless trace playback simulation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56248" y="5897880"/>
            <a:ext cx="51663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B4C5E"/>
                </a:solidFill>
                <a:latin typeface="Open Sauce"/>
              </a:defRPr>
            </a:pPr>
            <a:r>
              <a:t>SIMILARITY &amp; STORAGE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FAISS &amp; SQLite Cache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FAISS IndexFlatIP for exact cosine k-NN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Sub-millisecond nearest neighbor retrieval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SQLite &amp; disk-persisted FeatureCache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Quarantine isolation directory with SHA-256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88368" y="5897880"/>
            <a:ext cx="51663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331B0D"/>
                </a:solidFill>
                <a:latin typeface="Open Sauce"/>
              </a:defRPr>
            </a:pPr>
            <a:r>
              <a:t>RESEARCH LAB &amp; EVAL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Streamlit 1.35+ &amp; Plotly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11 dedicated analytical Streamlit dashboards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Plotly interactive publication figures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Pytest comprehensive automated test suite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YAML declarative configuration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91872" y="9555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C7753"/>
                </a:solidFill>
                <a:latin typeface="Open Sauce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777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13 / CODEBASE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777240"/>
            <a:ext cx="8119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MULTI-MODAL MALWARE ANALYSIS RESEARCH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234440"/>
            <a:ext cx="16239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1B0D"/>
                </a:solidFill>
                <a:latin typeface="Open Sauce"/>
              </a:defRPr>
            </a:pPr>
            <a:r>
              <a:t>Production-Grade Modular Research Platform</a:t>
            </a:r>
          </a:p>
          <a:p>
            <a:pPr>
              <a:defRPr sz="1800">
                <a:solidFill>
                  <a:srgbClr val="735F50"/>
                </a:solidFill>
                <a:latin typeface="Open Sauce"/>
              </a:defRPr>
            </a:pPr>
            <a:r>
              <a:t>Strict separation of concerns across models, feature extractors, sandboxing, and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2331720"/>
            <a:ext cx="7936992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B4C5E"/>
                </a:solidFill>
                <a:latin typeface="Open Sauce"/>
              </a:defRPr>
            </a:pPr>
            <a:r>
              <a:t>CORE PACKAGES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multimodal_malware/ Architecture</a:t>
            </a:r>
          </a:p>
          <a:p>
            <a:pPr>
              <a:spcAft>
                <a:spcPts val="600"/>
              </a:spcAft>
              <a:defRPr sz="1400">
                <a:solidFill>
                  <a:srgbClr val="331B0D"/>
                </a:solidFill>
                <a:latin typeface="Open Sauce"/>
              </a:defRPr>
            </a:pPr>
            <a:r>
              <a:t>• models/:</a:t>
            </a:r>
            <a:br/>
            <a:r>
              <a:t>  Transformer (opcode), GIN (CFG), BiLSTM (syscall), MultiModalInfoNCELoss, VolumetricGRAMLoss, AttentionWeightedLateFusion, MalwareClassifier, MultiModalMalwareModel.</a:t>
            </a:r>
          </a:p>
          <a:p>
            <a:pPr>
              <a:spcAft>
                <a:spcPts val="600"/>
              </a:spcAft>
              <a:defRPr sz="1400">
                <a:solidFill>
                  <a:srgbClr val="331B0D"/>
                </a:solidFill>
                <a:latin typeface="Open Sauce"/>
              </a:defRPr>
            </a:pPr>
            <a:r>
              <a:t>• features/:</a:t>
            </a:r>
            <a:br/>
            <a:r>
              <a:t>  LIEF PE/ELF parser, Capstone opcode extractor, NetworkX CFG extractor, Syscall extractor, and FeatureCache (SQLite + disk).</a:t>
            </a:r>
          </a:p>
          <a:p>
            <a:pPr>
              <a:spcAft>
                <a:spcPts val="600"/>
              </a:spcAft>
              <a:defRPr sz="1400">
                <a:solidFill>
                  <a:srgbClr val="331B0D"/>
                </a:solidFill>
                <a:latin typeface="Open Sauce"/>
              </a:defRPr>
            </a:pPr>
            <a:r>
              <a:t>• sandbox/:</a:t>
            </a:r>
            <a:br/>
            <a:r>
              <a:t>  BaseSandbox abstraction, LocalVMSandbox, CuckooSandbox connector, and system call TraceParser.</a:t>
            </a:r>
          </a:p>
          <a:p>
            <a:pPr>
              <a:spcAft>
                <a:spcPts val="600"/>
              </a:spcAft>
              <a:defRPr sz="1400">
                <a:solidFill>
                  <a:srgbClr val="331B0D"/>
                </a:solidFill>
                <a:latin typeface="Open Sauce"/>
              </a:defRPr>
            </a:pPr>
            <a:r>
              <a:t>• similarity/:</a:t>
            </a:r>
            <a:br/>
            <a:r>
              <a:t>  MalwareSimilarityIndex (FAISS-compatible hyperspherical index) and pairwise BinaryComparator.</a:t>
            </a:r>
          </a:p>
          <a:p>
            <a:pPr>
              <a:spcAft>
                <a:spcPts val="600"/>
              </a:spcAft>
              <a:defRPr sz="1400">
                <a:solidFill>
                  <a:srgbClr val="331B0D"/>
                </a:solidFill>
                <a:latin typeface="Open Sauce"/>
              </a:defRPr>
            </a:pPr>
            <a:r>
              <a:t>• training/:</a:t>
            </a:r>
            <a:br/>
            <a:r>
              <a:t>  MultiModalDataset, TripletSampler, WarmupCosineScheduler, and MultiStageTrainer.</a:t>
            </a:r>
          </a:p>
          <a:p>
            <a:pPr>
              <a:spcAft>
                <a:spcPts val="600"/>
              </a:spcAft>
              <a:defRPr sz="1400">
                <a:solidFill>
                  <a:srgbClr val="331B0D"/>
                </a:solidFill>
                <a:latin typeface="Open Sauce"/>
              </a:defRPr>
            </a:pPr>
            <a:r>
              <a:t>• evaluation/:</a:t>
            </a:r>
            <a:br/>
            <a:r>
              <a:t>  Metrics calculator, ThresholdSweeper, TemporalEvaluator, ZeroDayEvaluator, LatencyBenchmarker, and ObfuscationTester.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2331720"/>
            <a:ext cx="7936992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67365"/>
                </a:solidFill>
                <a:latin typeface="Open Sauce"/>
              </a:defRPr>
            </a:pPr>
            <a:r>
              <a:t>RESEARCH DASHBOARD &amp; TOOLING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11 Analytical Pages &amp; CLI Workflows</a:t>
            </a:r>
          </a:p>
          <a:p>
            <a:pPr>
              <a:spcAft>
                <a:spcPts val="600"/>
              </a:spcAft>
              <a:defRPr sz="1350">
                <a:solidFill>
                  <a:srgbClr val="331B0D"/>
                </a:solidFill>
                <a:latin typeface="Open Sauce"/>
              </a:defRPr>
            </a:pPr>
            <a:r>
              <a:t>• Streamlit Research Dashboard (app.py):</a:t>
            </a:r>
            <a:br/>
            <a:r>
              <a:t>  Page 1: Overview and Methodology</a:t>
            </a:r>
            <a:br/>
            <a:r>
              <a:t>  Page 2: Single Binary Inspection &amp; Dissection</a:t>
            </a:r>
            <a:br/>
            <a:r>
              <a:t>  Page 3: Multi-Modal vs Unimodal Baselines</a:t>
            </a:r>
            <a:br/>
            <a:r>
              <a:t>  Page 4: Zero-Day Generalization Explorer</a:t>
            </a:r>
            <a:br/>
            <a:r>
              <a:t>  Page 5: Obfuscation Robustness Stress Test</a:t>
            </a:r>
            <a:br/>
            <a:r>
              <a:t>  Page 6: Decision Threshold Optimization</a:t>
            </a:r>
            <a:br/>
            <a:r>
              <a:t>  Page 7: Latency and Hardware Feasibility</a:t>
            </a:r>
            <a:br/>
            <a:r>
              <a:t>  Page 8: Component Ablation Study Explorer</a:t>
            </a:r>
            <a:br/>
            <a:r>
              <a:t>  Page 9: Binary Similarity Search &amp; Comparator</a:t>
            </a:r>
            <a:br/>
            <a:r>
              <a:t>  Page 10: Research Export (BibTeX, Manifests)</a:t>
            </a:r>
            <a:br/>
            <a:r>
              <a:t>  Page 11: Research Paper Figures Generator</a:t>
            </a:r>
          </a:p>
          <a:p>
            <a:pPr>
              <a:spcAft>
                <a:spcPts val="600"/>
              </a:spcAft>
              <a:defRPr sz="1350">
                <a:solidFill>
                  <a:srgbClr val="331B0D"/>
                </a:solidFill>
                <a:latin typeface="Open Sauce"/>
              </a:defRPr>
            </a:pPr>
            <a:r>
              <a:t>• configs/: Declarative configs (lightweight.yaml, full_multimodal.yaml, scale_100k.yaml).</a:t>
            </a:r>
          </a:p>
          <a:p>
            <a:pPr>
              <a:spcAft>
                <a:spcPts val="600"/>
              </a:spcAft>
              <a:defRPr sz="1350">
                <a:solidFill>
                  <a:srgbClr val="331B0D"/>
                </a:solidFill>
                <a:latin typeface="Open Sauce"/>
              </a:defRPr>
            </a:pPr>
            <a:r>
              <a:t>• tests/: Pytest suite for models, features, similarity, and dataset scaling.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91872" y="9555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C7753"/>
                </a:solidFill>
                <a:latin typeface="Open Sauce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777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14 / EXPERIMENTAL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777240"/>
            <a:ext cx="8119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MULTI-MODAL MALWARE ANALYSIS RESEARCH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234440"/>
            <a:ext cx="16239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1B0D"/>
                </a:solidFill>
                <a:latin typeface="Open Sauce"/>
              </a:defRPr>
            </a:pPr>
            <a:r>
              <a:t>Three-Tiered Evaluation Methodology</a:t>
            </a:r>
          </a:p>
          <a:p>
            <a:pPr>
              <a:defRPr sz="1800">
                <a:solidFill>
                  <a:srgbClr val="735F50"/>
                </a:solidFill>
                <a:latin typeface="Open Sauce"/>
              </a:defRPr>
            </a:pPr>
            <a:r>
              <a:t>Rigorous evaluation protocols addressing random splits, temporal concept drift, and zero-day generalization.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2331720"/>
            <a:ext cx="5166360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B4C5E"/>
                </a:solidFill>
                <a:latin typeface="Open Sauce"/>
              </a:defRPr>
            </a:pPr>
            <a:r>
              <a:t>PROTOCOL 1 • IN-DISTRIBUTION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Standard Test Split (N = 1,500)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Experimental Purpose: Evaluates baseline classification accuracy and false alarm rates on held-out test data.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Stratification: 50% Malware (744 samples) and 50% Benign (756 samples) evaluated with frozen weights.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Metrics Tracked: Accuracy, Precision, Recall, F1-Score, Specificity, False Positive Rate (FPR), and False Negative Rate (FNR).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Statistical Rigor: 95% Bootstrap Confidence Intervals computed across 1,000 resamples to verify reproducibility.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Operational Thresholds: Operating points computed for Balanced, High-Security, and Low-False-Alarm modes.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Verified Artifact: results/evaluation_test.json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6248" y="2331720"/>
            <a:ext cx="5166360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67365"/>
                </a:solidFill>
                <a:latin typeface="Open Sauce"/>
              </a:defRPr>
            </a:pPr>
            <a:r>
              <a:t>PROTOCOL 2 • EVOLUTION DRIFT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Temporal Drift Split (N = 1,500)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Experimental Purpose: Evaluates performance degradation under distribution shift caused by natural malware evolution over time.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Protocol: Train exclusively on historical binaries compiled before timestamp T_split; test strictly on newer binaries compiled after T_split.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Eliminates Temporal Leakage: Prevents artificial inflation of detection rates common in random k-fold evaluations.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Key Metric: F1 Temporal Drift Drop:</a:t>
            </a:r>
            <a:br/>
            <a:r>
              <a:t>  ΔF1_drift = F1_temporal - F1_random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Real-World Validity: Proves whether models survive real-world deployment where adversaries update tooling.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Verified Artifact: results/evaluation_temporal.json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88368" y="2331720"/>
            <a:ext cx="5166360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A26A42"/>
                </a:solidFill>
                <a:latin typeface="Open Sauce"/>
              </a:defRPr>
            </a:pPr>
            <a:r>
              <a:t>PROTOCOL 3 • UNSEEN THREATS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Zero-Day Family Holdout Split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Experimental Purpose: Quantifies zero-day generalization against structurally novel malware families never seen in training.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Protocol: Entire malware families (e.g. ransomware_wannacry) are completely withheld from training and validation sets.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Evaluation Focus: Evaluates whether contrastively aligned representations generalize to unseen threat variants.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Key Metric: Detection rate and mean confidence on the held-out family without prior signatures.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Generalization Drop: Measures ΔF1_zero_day compared to in-distribution performance.</a:t>
            </a:r>
          </a:p>
          <a:p>
            <a:pPr>
              <a:spcAft>
                <a:spcPts val="600"/>
              </a:spcAft>
              <a:defRPr sz="1500">
                <a:solidFill>
                  <a:srgbClr val="331B0D"/>
                </a:solidFill>
                <a:latin typeface="Open Sauce"/>
              </a:defRPr>
            </a:pPr>
            <a:r>
              <a:t>• Verified Artifact: results/evaluation_family_holdout.json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91872" y="9555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C7753"/>
                </a:solidFill>
                <a:latin typeface="Open Sauce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777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15 / EMPIRICAL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777240"/>
            <a:ext cx="8119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MULTI-MODAL MALWARE ANALYSIS RESEARCH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234440"/>
            <a:ext cx="16239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1B0D"/>
                </a:solidFill>
                <a:latin typeface="Open Sauce"/>
              </a:defRPr>
            </a:pPr>
            <a:r>
              <a:t>Verified Performance Across Evaluation Splits</a:t>
            </a:r>
          </a:p>
          <a:p>
            <a:pPr>
              <a:defRPr sz="1800">
                <a:solidFill>
                  <a:srgbClr val="735F50"/>
                </a:solidFill>
                <a:latin typeface="Open Sauce"/>
              </a:defRPr>
            </a:pPr>
            <a:r>
              <a:t>Empirical results from verified project artifacts (evaluation_test.json, evaluation_temporal.json).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2240280"/>
            <a:ext cx="3840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2800" b="1">
                <a:solidFill>
                  <a:srgbClr val="2B4C5E"/>
                </a:solidFill>
                <a:latin typeface="Open Sauce"/>
              </a:defRPr>
            </a:pPr>
            <a:r>
              <a:t>99.93%</a:t>
            </a:r>
          </a:p>
          <a:p>
            <a:pPr algn="ctr">
              <a:defRPr sz="1050">
                <a:solidFill>
                  <a:srgbClr val="331B0D"/>
                </a:solidFill>
                <a:latin typeface="Open Sauce"/>
              </a:defRPr>
            </a:pPr>
            <a:r>
              <a:t>Test Accuracy (95% CI: 99.47–99.93%)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57215" y="2240280"/>
            <a:ext cx="3840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2800" b="1">
                <a:solidFill>
                  <a:srgbClr val="267365"/>
                </a:solidFill>
                <a:latin typeface="Open Sauce"/>
              </a:defRPr>
            </a:pPr>
            <a:r>
              <a:t>0.9993</a:t>
            </a:r>
          </a:p>
          <a:p>
            <a:pPr algn="ctr">
              <a:defRPr sz="1050">
                <a:solidFill>
                  <a:srgbClr val="331B0D"/>
                </a:solidFill>
                <a:latin typeface="Open Sauce"/>
              </a:defRPr>
            </a:pPr>
            <a:r>
              <a:t>F1-Score (Precision: 99.86%, Recall: 100%)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90302" y="2240280"/>
            <a:ext cx="3840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2800" b="1">
                <a:solidFill>
                  <a:srgbClr val="8C7753"/>
                </a:solidFill>
                <a:latin typeface="Open Sauce"/>
              </a:defRPr>
            </a:pPr>
            <a:r>
              <a:t>0.00%</a:t>
            </a:r>
          </a:p>
          <a:p>
            <a:pPr algn="ctr">
              <a:defRPr sz="1050">
                <a:solidFill>
                  <a:srgbClr val="331B0D"/>
                </a:solidFill>
                <a:latin typeface="Open Sauce"/>
              </a:defRPr>
            </a:pPr>
            <a:r>
              <a:t>False Negative Rate (Zero Missed Malware)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23389" y="2240280"/>
            <a:ext cx="3840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2800" b="1">
                <a:solidFill>
                  <a:srgbClr val="A26A42"/>
                </a:solidFill>
                <a:latin typeface="Open Sauce"/>
              </a:defRPr>
            </a:pPr>
            <a:r>
              <a:t>28.87 ms</a:t>
            </a:r>
          </a:p>
          <a:p>
            <a:pPr algn="ctr">
              <a:defRPr sz="1050">
                <a:solidFill>
                  <a:srgbClr val="331B0D"/>
                </a:solidFill>
                <a:latin typeface="Open Sauce"/>
              </a:defRPr>
            </a:pPr>
            <a:r>
              <a:t>Full Forward Latency (34.6 samples/sec)</a:t>
            </a:r>
          </a:p>
        </p:txBody>
      </p:sp>
      <p:pic>
        <p:nvPicPr>
          <p:cNvPr id="9" name="Picture 8" descr="chart_cm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840480"/>
            <a:ext cx="10515600" cy="4389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1905488" y="3840480"/>
            <a:ext cx="535838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B4C5E"/>
                </a:solidFill>
                <a:latin typeface="Open Sauce"/>
              </a:defRPr>
            </a:pPr>
            <a:r>
              <a:t>CROSS-SPLIT SUMMARY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Robustness &amp; Generalization</a:t>
            </a:r>
          </a:p>
          <a:p>
            <a:pPr>
              <a:spcAft>
                <a:spcPts val="600"/>
              </a:spcAft>
              <a:defRPr sz="1350">
                <a:solidFill>
                  <a:srgbClr val="331B0D"/>
                </a:solidFill>
                <a:latin typeface="Open Sauce"/>
              </a:defRPr>
            </a:pPr>
            <a:r>
              <a:t>• In-Distribution Random Test Split:</a:t>
            </a:r>
            <a:br/>
            <a:r>
              <a:t>  Accuracy: 99.93% | F1: 0.9993 | ROC-AUC: 1.000</a:t>
            </a:r>
            <a:br/>
            <a:r>
              <a:t>  TP: 744, FP: 1, TN: 755, FN: 0</a:t>
            </a:r>
          </a:p>
          <a:p>
            <a:pPr>
              <a:spcAft>
                <a:spcPts val="600"/>
              </a:spcAft>
              <a:defRPr sz="1350">
                <a:solidFill>
                  <a:srgbClr val="331B0D"/>
                </a:solidFill>
                <a:latin typeface="Open Sauce"/>
              </a:defRPr>
            </a:pPr>
            <a:r>
              <a:t>• Strict Temporal Drift Split:</a:t>
            </a:r>
            <a:br/>
            <a:r>
              <a:t>  Accuracy: 99.73% | F1: 0.9973 | ROC-AUC: 1.000</a:t>
            </a:r>
            <a:br/>
            <a:r>
              <a:t>  F1 Drift Drop: Only -0.0028 (-0.28%)</a:t>
            </a:r>
            <a:br/>
            <a:r>
              <a:t>  Proves resilience to temporal malware evolution.</a:t>
            </a:r>
          </a:p>
          <a:p>
            <a:pPr>
              <a:spcAft>
                <a:spcPts val="600"/>
              </a:spcAft>
              <a:defRPr sz="1350">
                <a:solidFill>
                  <a:srgbClr val="331B0D"/>
                </a:solidFill>
                <a:latin typeface="Open Sauce"/>
              </a:defRPr>
            </a:pPr>
            <a:r>
              <a:t>• Zero-Day Family Holdout Split:</a:t>
            </a:r>
            <a:br/>
            <a:r>
              <a:t>  Held-Out Family: ransomware_wannacry</a:t>
            </a:r>
            <a:br/>
            <a:r>
              <a:t>  WannaCry Detection Rate: 100.0% (157 / 157)</a:t>
            </a:r>
            <a:br/>
            <a:r>
              <a:t>  Mean Prediction Confidence: 0.9297</a:t>
            </a:r>
            <a:br/>
            <a:r>
              <a:t>  Generalization Drop: Only -0.0034 (-0.34%)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8366760"/>
            <a:ext cx="16239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7753"/>
                </a:solidFill>
                <a:latin typeface="Open Sauce"/>
              </a:defRPr>
            </a:pPr>
            <a:r>
              <a:t>SCIENTIFIC INTEGRITY AUDIT: All metrics above correspond exactly to stored execution artifacts in results/evaluation_test.json, results/evaluation_temporal.json, and results/evaluation_family_holdout.json. No metrics have been fabricated or extrapolated.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91872" y="9555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C7753"/>
                </a:solidFill>
                <a:latin typeface="Open Sauce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777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16 / CYBERSECURITY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777240"/>
            <a:ext cx="8119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MULTI-MODAL MALWARE ANALYSIS RESEARCH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234440"/>
            <a:ext cx="16239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1B0D"/>
                </a:solidFill>
                <a:latin typeface="Open Sauce"/>
              </a:defRPr>
            </a:pPr>
            <a:r>
              <a:t>Operational Security &amp; Adversarial Obfuscation Resilience</a:t>
            </a:r>
          </a:p>
          <a:p>
            <a:pPr>
              <a:defRPr sz="1800">
                <a:solidFill>
                  <a:srgbClr val="735F50"/>
                </a:solidFill>
                <a:latin typeface="Open Sauce"/>
              </a:defRPr>
            </a:pPr>
            <a:r>
              <a:t>Rigorous quarantine containment protocols and empirical performance under adversarial attack.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2331720"/>
            <a:ext cx="7936992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B4C5E"/>
                </a:solidFill>
                <a:latin typeface="Open Sauce"/>
              </a:defRPr>
            </a:pPr>
            <a:r>
              <a:t>OPERATIONAL SECURITY SAFEGUARDS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Secure Sample Ingestion &amp; Host Isolation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Quarantine Isolation Protocol:</a:t>
            </a:r>
            <a:br/>
            <a:r>
              <a:t>  All uploaded or inspected executables are staged in a dedicated quarantine directory (quarantine/) with randomized SHA-256 filenames.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Host Execution Ban:</a:t>
            </a:r>
            <a:br/>
            <a:r>
              <a:t>  The host operating system never directly executes untrusted sample binaries. Static features are extracted via pure user-space parsing (LIEF / Capstone).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Anti-DoS Input Boundaries:</a:t>
            </a:r>
            <a:br/>
            <a:r>
              <a:t>  Enforces strict sequence caps (max 2,048 opcode tokens) and graph caps (max 512 basic blocks) to prevent algorithmic complexity attacks and out-of-memory DoS.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Memory Footprint Optimization:</a:t>
            </a:r>
            <a:br/>
            <a:r>
              <a:t>  Peak RSS memory usage is 512.5 MB (delta: 44.08 MB), enabling secure execution inside lightweight analyst VMs or mobile workstations.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• Analyst Decision Support:</a:t>
            </a:r>
            <a:br/>
            <a:r>
              <a:t>  Generates human-readable inspection reports, PE metadata, entropy heatmaps, and suspicious API summaries.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2331720"/>
            <a:ext cx="7936992" cy="6766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A26A42"/>
                </a:solidFill>
                <a:latin typeface="Open Sauce"/>
              </a:defRPr>
            </a:pPr>
            <a:r>
              <a:t>ADVERSARIAL STRESS TEST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Empirical Obfuscation Results (robustness_results.json)</a:t>
            </a:r>
          </a:p>
          <a:p>
            <a:pPr>
              <a:spcAft>
                <a:spcPts val="600"/>
              </a:spcAft>
              <a:defRPr sz="1400">
                <a:solidFill>
                  <a:srgbClr val="331B0D"/>
                </a:solidFill>
                <a:latin typeface="Open Sauce"/>
              </a:defRPr>
            </a:pPr>
            <a:r>
              <a:t>• Clean Baseline (Unmodified Samples):</a:t>
            </a:r>
            <a:br/>
            <a:r>
              <a:t>  Accuracy: 100.0%  |  F1-Score: 1.0000  |  FNR: 0.00%</a:t>
            </a:r>
            <a:br/>
            <a:r>
              <a:t>  Attention: Opcode 60.6%, CFG 17.3%, Syscall 22.1%</a:t>
            </a:r>
          </a:p>
          <a:p>
            <a:pPr>
              <a:spcAft>
                <a:spcPts val="600"/>
              </a:spcAft>
              <a:defRPr sz="1400">
                <a:solidFill>
                  <a:srgbClr val="331B0D"/>
                </a:solidFill>
                <a:latin typeface="Open Sauce"/>
              </a:defRPr>
            </a:pPr>
            <a:r>
              <a:t>• UPX Section Packing:</a:t>
            </a:r>
            <a:br/>
            <a:r>
              <a:t>  Accuracy: 88.0%  |  F1-Score: 0.8929  |  FNR: 0.00%</a:t>
            </a:r>
            <a:br/>
            <a:r>
              <a:t>  Dynamic Adaptation: Syscall attention surges from 22.1% ➔ 34.3%</a:t>
            </a:r>
          </a:p>
          <a:p>
            <a:pPr>
              <a:spcAft>
                <a:spcPts val="600"/>
              </a:spcAft>
              <a:defRPr sz="1400">
                <a:solidFill>
                  <a:srgbClr val="331B0D"/>
                </a:solidFill>
                <a:latin typeface="Open Sauce"/>
              </a:defRPr>
            </a:pPr>
            <a:r>
              <a:t>• Dead-Code Insertion:</a:t>
            </a:r>
            <a:br/>
            <a:r>
              <a:t>  Accuracy: 80.0%  |  F1-Score: 0.7500  |  FPR: 0.00%</a:t>
            </a:r>
            <a:br/>
            <a:r>
              <a:t>  Attention: Opcode 52.8%, CFG 20.6%, Syscall 26.7%</a:t>
            </a:r>
          </a:p>
          <a:p>
            <a:pPr>
              <a:spcAft>
                <a:spcPts val="600"/>
              </a:spcAft>
              <a:defRPr sz="1400">
                <a:solidFill>
                  <a:srgbClr val="331B0D"/>
                </a:solidFill>
                <a:latin typeface="Open Sauce"/>
              </a:defRPr>
            </a:pPr>
            <a:r>
              <a:t>• CFG Flattening (OLLVM):</a:t>
            </a:r>
            <a:br/>
            <a:r>
              <a:t>  Accuracy: 96.0%  |  F1-Score: 0.9583  |  FNR: 0.08%</a:t>
            </a:r>
            <a:br/>
            <a:r>
              <a:t>  Attention: Opcode 61.6%, CFG 16.6%, Syscall 21.9%</a:t>
            </a:r>
          </a:p>
          <a:p>
            <a:pPr>
              <a:spcAft>
                <a:spcPts val="600"/>
              </a:spcAft>
              <a:defRPr sz="1400">
                <a:solidFill>
                  <a:srgbClr val="331B0D"/>
                </a:solidFill>
                <a:latin typeface="Open Sauce"/>
              </a:defRPr>
            </a:pPr>
            <a:r>
              <a:t>• Dynamic Sandbox Stalling:</a:t>
            </a:r>
            <a:br/>
            <a:r>
              <a:t>  Accuracy: 98.0%  |  F1-Score: 0.9796  |  FPR: 0.00%</a:t>
            </a:r>
            <a:br/>
            <a:r>
              <a:t>  Dynamic Adaptation: Syscall attention zeroed out (0.0%), static features compensate (Opcode: 79.0%, CFG: 21.0%)!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91872" y="9555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C7753"/>
                </a:solidFill>
                <a:latin typeface="Open Sauce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777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17 / SUMMARY &amp;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777240"/>
            <a:ext cx="8119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C7753"/>
                </a:solidFill>
                <a:latin typeface="Open Sauce"/>
              </a:defRPr>
            </a:pPr>
            <a:r>
              <a:t>MULTI-MODAL MALWARE ANALYSIS RESEARCH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234440"/>
            <a:ext cx="16239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1B0D"/>
                </a:solidFill>
                <a:latin typeface="Open Sauce"/>
              </a:defRPr>
            </a:pPr>
            <a:r>
              <a:t>Key Research Contributions &amp; Future Horizons</a:t>
            </a:r>
          </a:p>
          <a:p>
            <a:pPr>
              <a:defRPr sz="1800">
                <a:solidFill>
                  <a:srgbClr val="735F50"/>
                </a:solidFill>
                <a:latin typeface="Open Sauce"/>
              </a:defRPr>
            </a:pPr>
            <a:r>
              <a:t>Synthesizing research contributions and outlining high-impact directions for binary security.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2331720"/>
            <a:ext cx="7936992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B4C5E"/>
                </a:solidFill>
                <a:latin typeface="Open Sauce"/>
              </a:defRPr>
            </a:pPr>
            <a:r>
              <a:t>RESEARCH SUMMARY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Four Core Scientific Contributions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1. Multi-Modal Representation Synergy:</a:t>
            </a:r>
            <a:br/>
            <a:r>
              <a:t>   Demonstrated that combining lexical opcodes, CFG topology, and dynamic traces overcomes individual unimodal evasion vulnerabilities.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2. Hyperspherical Latent Alignment:</a:t>
            </a:r>
            <a:br/>
            <a:r>
              <a:t>   Proven that Pairwise InfoNCE alongside Volumetric GRAM effectively harmonizes heterogeneous data structures into a unified 128-D embedding space.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3. Robustness to Missing Modalities:</a:t>
            </a:r>
            <a:br/>
            <a:r>
              <a:t>   Dynamic attention gating with availability masking enables resilient classification even when dynamic sandboxing is skipped or static features are packed.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4. Practical Laptop-First Triage:</a:t>
            </a:r>
            <a:br/>
            <a:r>
              <a:t>   Achieved 17.5 ms fast static screening (57 binaries/sec) and 28.9 ms CPU full forward pass, proving high-throughput SOC feasibility.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2331720"/>
            <a:ext cx="7936992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182880"/>
          <a:lstStyle/>
          <a:p>
            <a:pPr algn="ctr">
              <a:defRPr sz="1100" b="1">
                <a:solidFill>
                  <a:srgbClr val="267365"/>
                </a:solidFill>
                <a:latin typeface="Open Sauce"/>
              </a:defRPr>
            </a:pPr>
            <a:r>
              <a:t>RESEARCH HORIZONS</a:t>
            </a:r>
          </a:p>
          <a:p>
            <a:pPr>
              <a:spcAft>
                <a:spcPts val="1000"/>
              </a:spcAft>
              <a:defRPr sz="2000" b="1">
                <a:solidFill>
                  <a:srgbClr val="331B0D"/>
                </a:solidFill>
                <a:latin typeface="Open Sauce"/>
              </a:defRPr>
            </a:pPr>
            <a:r>
              <a:t>Future Work &amp; Scaling Vectors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1. Cross-Instruction Set Architecture (Cross-ISA) Generalization:</a:t>
            </a:r>
            <a:br/>
            <a:r>
              <a:t>   Extending extraction and alignment across ARM, MIPS, and RISC-V IoT binary corpora to combat cross-compiled threats.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2. Assembly Foundation Models &amp; Disassembly LLMs:</a:t>
            </a:r>
            <a:br/>
            <a:r>
              <a:t>   Evaluating pre-trained binary language models (e.g. PalmTree, jtrans) as enriched feature extractors for lexical priors.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3. Hardware-Assisted Transparent Tracing:</a:t>
            </a:r>
            <a:br/>
            <a:r>
              <a:t>   Integrating Intel Processor Trace (Intel PT) and ARM CoreSight to capture dynamic execution traces with zero guest OS hypervisor artifacts.</a:t>
            </a:r>
          </a:p>
          <a:p>
            <a:pPr>
              <a:spcAft>
                <a:spcPts val="600"/>
              </a:spcAft>
              <a:defRPr sz="1450">
                <a:solidFill>
                  <a:srgbClr val="331B0D"/>
                </a:solidFill>
                <a:latin typeface="Open Sauce"/>
              </a:defRPr>
            </a:pPr>
            <a:r>
              <a:t>4. Real-Time SOC SIEM/SOAR Orchestration:</a:t>
            </a:r>
            <a:br/>
            <a:r>
              <a:t>   Developing automated ingestion connectors for Splunk, Elastic Security, and MISP threat intelligence platforms.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8046720"/>
            <a:ext cx="16239744" cy="1280160"/>
          </a:xfrm>
          <a:prstGeom prst="roundRect">
            <a:avLst/>
          </a:prstGeom>
          <a:solidFill>
            <a:srgbClr val="F5EFEB"/>
          </a:solidFill>
          <a:ln w="15240">
            <a:solidFill>
              <a:srgbClr val="8C7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365760" rIns="365760"/>
          <a:lstStyle/>
          <a:p>
            <a:pPr algn="ctr">
              <a:defRPr sz="1800" b="1">
                <a:solidFill>
                  <a:srgbClr val="331B0D"/>
                </a:solidFill>
                <a:latin typeface="Open Sauce"/>
              </a:defRPr>
            </a:pPr>
            <a:r>
              <a:t>THANK YOU  •  QUESTIONS &amp; DISCUSSION</a:t>
            </a:r>
          </a:p>
          <a:p>
            <a:pPr>
              <a:defRPr sz="1450">
                <a:solidFill>
                  <a:srgbClr val="735F50"/>
                </a:solidFill>
                <a:latin typeface="Open Sauce"/>
              </a:defRPr>
            </a:pPr>
            <a:r>
              <a:t>Open Source Repository: https://github.com/kohlirupesh19/Multi-Model.git  |  Multi-Modal Binary Malware Analysis Platform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91872" y="9555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C7753"/>
                </a:solidFill>
                <a:latin typeface="Open Sauce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DAHU0Owtfkk</dc:identifier>
  <dcterms:modified xsi:type="dcterms:W3CDTF">2011-08-01T06:04:30Z</dcterms:modified>
  <cp:revision>1</cp:revision>
  <dc:title>White Beige and Brown Simple Minimalist Clean Final Project Presentation</dc:title>
</cp:coreProperties>
</file>